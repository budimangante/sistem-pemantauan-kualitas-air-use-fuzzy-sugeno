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35"/>
    <a:srgbClr val="90E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29055-5D58-46CE-8561-A2900A4195DF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CCF72-4839-4E13-BCAA-AC5487460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5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CCF72-4839-4E13-BCAA-AC54874601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73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CCF72-4839-4E13-BCAA-AC54874601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89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CCF72-4839-4E13-BCAA-AC54874601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66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.thamrin.ac.id/index.php/jtik/article/view/3185" TargetMode="External"/><Relationship Id="rId2" Type="http://schemas.openxmlformats.org/officeDocument/2006/relationships/hyperlink" Target="https://doi.org/10.18280/isi.280403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js.serambimekkah.ac.id/jse/article/download/5106/3767" TargetMode="External"/><Relationship Id="rId4" Type="http://schemas.openxmlformats.org/officeDocument/2006/relationships/hyperlink" Target="https://bujurnews.com/2025/02/20/warga-samarinda-keluhkan-kualitas-air-pdam-yang-keruh-ini-penjelasan-perumdam-tirta-kencana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45720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dirty="0">
                <a:solidFill>
                  <a:srgbClr val="90E0EF"/>
                </a:solidFill>
                <a:latin typeface="Segoe UI"/>
              </a:rPr>
              <a:t>TUGAS BESAR — </a:t>
            </a:r>
            <a:r>
              <a:rPr lang="en-US" sz="1300" b="1" i="0" dirty="0">
                <a:solidFill>
                  <a:srgbClr val="90E0EF"/>
                </a:solidFill>
                <a:latin typeface="Segoe UI"/>
              </a:rPr>
              <a:t>M</a:t>
            </a:r>
            <a:r>
              <a:rPr lang="en-US" sz="1300" b="1" dirty="0">
                <a:solidFill>
                  <a:srgbClr val="90E0EF"/>
                </a:solidFill>
                <a:latin typeface="Segoe UI"/>
              </a:rPr>
              <a:t>icrocontroller</a:t>
            </a:r>
            <a:endParaRPr sz="1300" b="1" i="0" dirty="0">
              <a:solidFill>
                <a:srgbClr val="90E0EF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98184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Sistem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Pemantau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Kualitas</a:t>
            </a:r>
            <a:r>
              <a:rPr lang="en-US" sz="3600" dirty="0">
                <a:solidFill>
                  <a:schemeClr val="bg1"/>
                </a:solidFill>
              </a:rPr>
              <a:t> Air </a:t>
            </a:r>
            <a:r>
              <a:rPr lang="en-US" sz="3600" dirty="0" err="1">
                <a:solidFill>
                  <a:schemeClr val="bg1"/>
                </a:solidFill>
              </a:rPr>
              <a:t>Bersih</a:t>
            </a:r>
            <a:endParaRPr sz="3600"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034687"/>
            <a:ext cx="36576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87746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 err="1">
                <a:solidFill>
                  <a:srgbClr val="90E0EF"/>
                </a:solidFill>
                <a:latin typeface="Segoe UI"/>
              </a:rPr>
              <a:t>Sistem</a:t>
            </a:r>
            <a:r>
              <a:rPr sz="1400" b="0" i="1" dirty="0">
                <a:solidFill>
                  <a:srgbClr val="90E0EF"/>
                </a:solidFill>
                <a:latin typeface="Segoe UI"/>
              </a:rPr>
              <a:t> monitoring </a:t>
            </a:r>
            <a:r>
              <a:rPr sz="1400" b="0" i="1" dirty="0" err="1">
                <a:solidFill>
                  <a:srgbClr val="90E0EF"/>
                </a:solidFill>
                <a:latin typeface="Segoe UI"/>
              </a:rPr>
              <a:t>otomasi</a:t>
            </a:r>
            <a:r>
              <a:rPr sz="1400" b="0" i="1" dirty="0">
                <a:solidFill>
                  <a:srgbClr val="90E0EF"/>
                </a:solidFill>
                <a:latin typeface="Segoe UI"/>
              </a:rPr>
              <a:t> </a:t>
            </a:r>
            <a:r>
              <a:rPr sz="1400" b="0" i="1" dirty="0" err="1">
                <a:solidFill>
                  <a:srgbClr val="90E0EF"/>
                </a:solidFill>
                <a:latin typeface="Segoe UI"/>
              </a:rPr>
              <a:t>berbasis</a:t>
            </a:r>
            <a:r>
              <a:rPr sz="1400" b="0" i="1" dirty="0">
                <a:solidFill>
                  <a:srgbClr val="90E0EF"/>
                </a:solidFill>
                <a:latin typeface="Segoe UI"/>
              </a:rPr>
              <a:t> ESP32 &amp; </a:t>
            </a:r>
            <a:r>
              <a:rPr sz="1400" b="0" i="1" dirty="0" err="1">
                <a:solidFill>
                  <a:srgbClr val="90E0EF"/>
                </a:solidFill>
                <a:latin typeface="Segoe UI"/>
              </a:rPr>
              <a:t>Bluino</a:t>
            </a:r>
            <a:r>
              <a:rPr sz="1400" b="0" i="1" dirty="0">
                <a:solidFill>
                  <a:srgbClr val="90E0EF"/>
                </a:solidFill>
                <a:latin typeface="Segoe UI"/>
              </a:rPr>
              <a:t> IoT Ki</a:t>
            </a:r>
            <a:r>
              <a:rPr lang="en-US" sz="1400" b="0" i="1" dirty="0">
                <a:solidFill>
                  <a:srgbClr val="90E0EF"/>
                </a:solidFill>
                <a:latin typeface="Segoe UI"/>
              </a:rPr>
              <a:t>t</a:t>
            </a:r>
            <a:endParaRPr sz="1400" b="0" i="1" dirty="0">
              <a:solidFill>
                <a:srgbClr val="90E0EF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79531" y="2997903"/>
            <a:ext cx="5888863" cy="2991418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3648883" y="3084704"/>
            <a:ext cx="7121266" cy="372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Segoe UI"/>
              </a:rPr>
              <a:t>Nama</a:t>
            </a:r>
            <a:r>
              <a:rPr lang="en-US" sz="1600" b="0" i="0" dirty="0">
                <a:solidFill>
                  <a:srgbClr val="FFFFFF"/>
                </a:solidFill>
                <a:latin typeface="Segoe UI"/>
              </a:rPr>
              <a:t> Team: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883" y="3584580"/>
            <a:ext cx="7121266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Vicky Ahmad Fernanda (2309106123)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600" dirty="0" err="1">
                <a:solidFill>
                  <a:srgbClr val="FFFFFF"/>
                </a:solidFill>
                <a:latin typeface="Segoe UI"/>
              </a:rPr>
              <a:t>Hafizal</a:t>
            </a:r>
            <a:r>
              <a:rPr lang="en-US" sz="1600" dirty="0">
                <a:solidFill>
                  <a:srgbClr val="FFFFFF"/>
                </a:solidFill>
                <a:latin typeface="Segoe UI"/>
              </a:rPr>
              <a:t> Asfa </a:t>
            </a:r>
            <a:r>
              <a:rPr lang="en-US" sz="1600" dirty="0" err="1">
                <a:solidFill>
                  <a:srgbClr val="FFFFFF"/>
                </a:solidFill>
                <a:latin typeface="Segoe UI"/>
              </a:rPr>
              <a:t>Wadhiah</a:t>
            </a:r>
            <a:r>
              <a:rPr lang="en-US" sz="1600" dirty="0">
                <a:solidFill>
                  <a:srgbClr val="FFFFFF"/>
                </a:solidFill>
                <a:latin typeface="Segoe UI"/>
              </a:rPr>
              <a:t> (2309106129)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600" b="0" i="0" dirty="0">
                <a:solidFill>
                  <a:srgbClr val="FFFFFF"/>
                </a:solidFill>
                <a:latin typeface="Segoe UI"/>
              </a:rPr>
              <a:t>Akmal </a:t>
            </a:r>
            <a:r>
              <a:rPr lang="en-US" sz="1600" b="0" i="0" dirty="0" err="1">
                <a:solidFill>
                  <a:srgbClr val="FFFFFF"/>
                </a:solidFill>
                <a:latin typeface="Segoe UI"/>
              </a:rPr>
              <a:t>Alvian</a:t>
            </a:r>
            <a:r>
              <a:rPr lang="en-US" sz="1600" b="0" i="0" dirty="0">
                <a:solidFill>
                  <a:srgbClr val="FFFFFF"/>
                </a:solidFill>
                <a:latin typeface="Segoe UI"/>
              </a:rPr>
              <a:t> Pratama</a:t>
            </a:r>
            <a:r>
              <a:rPr lang="en-US" sz="1600" dirty="0">
                <a:solidFill>
                  <a:srgbClr val="FFFFFF"/>
                </a:solidFill>
                <a:latin typeface="Segoe UI"/>
              </a:rPr>
              <a:t> (2309106021)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600" b="0" i="0" dirty="0">
                <a:solidFill>
                  <a:srgbClr val="FFFFFF"/>
                </a:solidFill>
                <a:latin typeface="Segoe UI"/>
              </a:rPr>
              <a:t>Muhammad </a:t>
            </a:r>
            <a:r>
              <a:rPr lang="en-US" sz="1600" b="0" i="0" dirty="0" err="1">
                <a:solidFill>
                  <a:srgbClr val="FFFFFF"/>
                </a:solidFill>
                <a:latin typeface="Segoe UI"/>
              </a:rPr>
              <a:t>Dzacky</a:t>
            </a:r>
            <a:r>
              <a:rPr lang="en-US" sz="1600" b="0" i="0" dirty="0">
                <a:solidFill>
                  <a:srgbClr val="FFFFFF"/>
                </a:solidFill>
                <a:latin typeface="Segoe UI"/>
              </a:rPr>
              <a:t> (2309106101)</a:t>
            </a:r>
            <a:endParaRPr sz="16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48883" y="4961694"/>
            <a:ext cx="7121266" cy="372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FFFFFF"/>
                </a:solidFill>
                <a:latin typeface="Segoe UI"/>
              </a:rPr>
              <a:t>Kelas</a:t>
            </a:r>
            <a:r>
              <a:rPr sz="1600" b="0" i="0" dirty="0">
                <a:solidFill>
                  <a:srgbClr val="FFFFFF"/>
                </a:solidFill>
                <a:latin typeface="Segoe UI"/>
              </a:rPr>
              <a:t> / Angkatan    : </a:t>
            </a:r>
            <a:r>
              <a:rPr lang="en-US" sz="1600" dirty="0">
                <a:solidFill>
                  <a:srgbClr val="FFFFFF"/>
                </a:solidFill>
                <a:latin typeface="Segoe UI"/>
              </a:rPr>
              <a:t>Micro A / 2023</a:t>
            </a:r>
            <a:endParaRPr sz="16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0" y="5422424"/>
            <a:ext cx="7121266" cy="372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Segoe UI"/>
              </a:rPr>
              <a:t>Dosen </a:t>
            </a:r>
            <a:r>
              <a:rPr sz="1600" b="0" i="0" dirty="0" err="1">
                <a:solidFill>
                  <a:srgbClr val="FFFFFF"/>
                </a:solidFill>
                <a:latin typeface="Segoe UI"/>
              </a:rPr>
              <a:t>Pengampu</a:t>
            </a:r>
            <a:r>
              <a:rPr sz="1600" b="0" i="0" dirty="0">
                <a:solidFill>
                  <a:srgbClr val="FFFFFF"/>
                </a:solidFill>
                <a:latin typeface="Segoe UI"/>
              </a:rPr>
              <a:t>      : Anton </a:t>
            </a:r>
            <a:r>
              <a:rPr sz="1600" b="0" i="0" dirty="0" err="1">
                <a:solidFill>
                  <a:srgbClr val="FFFFFF"/>
                </a:solidFill>
                <a:latin typeface="Segoe UI"/>
              </a:rPr>
              <a:t>Prafanto</a:t>
            </a:r>
            <a:r>
              <a:rPr sz="1600" b="0" i="0" dirty="0">
                <a:solidFill>
                  <a:srgbClr val="FFFFFF"/>
                </a:solidFill>
                <a:latin typeface="Segoe UI"/>
              </a:rPr>
              <a:t>, S.T., M.T.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40596" y="225350"/>
            <a:ext cx="2560320" cy="2560320"/>
          </a:xfrm>
          <a:prstGeom prst="rect">
            <a:avLst/>
          </a:prstGeom>
          <a:solidFill>
            <a:srgbClr val="0E2A5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40596" y="31679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 dirty="0">
                <a:solidFill>
                  <a:srgbClr val="B0BEC5"/>
                </a:solidFill>
                <a:latin typeface="Segoe UI"/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0596" y="141407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B0BEC5"/>
                </a:solidFill>
                <a:latin typeface="Segoe UI"/>
              </a:rPr>
              <a:t>Foto / Render
Alat Anda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Fakultas Teknik  •  Universitas Mulawarman  •  2025 / 2026</a:t>
            </a:r>
          </a:p>
        </p:txBody>
      </p:sp>
      <p:pic>
        <p:nvPicPr>
          <p:cNvPr id="46" name="Gambar 45">
            <a:extLst>
              <a:ext uri="{FF2B5EF4-FFF2-40B4-BE49-F238E27FC236}">
                <a16:creationId xmlns:a16="http://schemas.microsoft.com/office/drawing/2014/main" id="{5924DD58-C9BA-4B6B-2C07-7CC9074E96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20" b="24961"/>
          <a:stretch>
            <a:fillRect/>
          </a:stretch>
        </p:blipFill>
        <p:spPr>
          <a:xfrm>
            <a:off x="9326880" y="2179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Daftar 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Overview presentasi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9844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Tinjauan Pustaka &amp; Landasan Teori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188720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188720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24358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29844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Latar Belakang &amp; Motivasi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10512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810512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865376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92024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Rumusan Masalah &amp; Tujuan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810512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0" y="1810512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865376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92024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Arsitektur Sistem IoT (3 Layer)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32304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2432304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2487168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54203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Spesifikasi Sistem &amp; Komponen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432304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0" y="2432304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487168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54203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Desain Hardware (Blok Diagram &amp; Wiring)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054096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054096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108960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16382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Foto Alat Fisik &amp; Video Demo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054096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92240" y="3054096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3108960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16382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Desain Software (Flowchart &amp; Kode)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675888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3675888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373075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378561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Bill of Materials &amp; Estimasi Biaya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675888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92240" y="3675888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373075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378561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Tampilan Antarmuka / Dashboard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297680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7200" y="4297680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435254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440740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Pengujian &amp; Hasil Eksperimen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4297680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92240" y="4297680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92240" y="435254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440740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Analisis &amp; Pembahasan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919472"/>
            <a:ext cx="5120640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" y="4919472"/>
            <a:ext cx="548640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4974336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  <a:latin typeface="Segoe U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502920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Kesimpulan, Kendala &amp; Saran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  <a:latin typeface="Segoe UI"/>
              </a:rPr>
              <a:t>⏱  Alokasi waktu presentasi: ±20 menit + 5 menit tanya jawab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Tinjauan Pustaka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Landasan teori &amp; penelitian terkait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53949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Segoe UI"/>
              </a:rPr>
              <a:t>Landasan Teori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5394960" cy="9144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6420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  <a:latin typeface="Segoe UI"/>
              </a:rPr>
              <a:t>Internet of Things (IoT)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0292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Paradigma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jaringan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fisik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-digital di mana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perangkat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tertanam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sensor,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aktuator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dan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konektivitas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untuk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saling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bertukar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tanpa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intervensi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manusia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(ITU-T Y.2060).</a:t>
            </a:r>
            <a:endParaRPr sz="10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5394960" cy="9144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6700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90E0EF"/>
                </a:solidFill>
                <a:latin typeface="Segoe UI"/>
              </a:rPr>
              <a:t>ESP32 Microcontroller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65364"/>
            <a:ext cx="50292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SoC </a:t>
            </a:r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dual-core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240 MHz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dengan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WiFi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802.11 b/g/n dan Bluetooth 4.2/BLE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terintegrasi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cocok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sebagai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edge node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dalam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IoT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berdaya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rendah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respons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cepat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sz="10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3639312"/>
            <a:ext cx="5394960" cy="9144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639312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675888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90E0EF"/>
                </a:solidFill>
                <a:latin typeface="Segoe UI"/>
              </a:rPr>
              <a:t>FUZZY LOGIC SUGENO</a:t>
            </a:r>
            <a:endParaRPr sz="1200" b="1" i="0" dirty="0">
              <a:solidFill>
                <a:srgbClr val="90E0EF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3973240"/>
            <a:ext cx="50292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Metode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inferensi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fuzzy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berbasis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aturan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IF-THEN yang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menghasilkan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output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berupa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nilai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konstanta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atau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fungsi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linier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cocok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untuk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kendali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seperti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buka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tutup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solenoid valve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berdasarkan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nilai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NTU.</a:t>
            </a:r>
            <a:endParaRPr sz="10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80760" y="1143000"/>
            <a:ext cx="5650992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8" y="11704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Penelitian Terkait (State of the Art)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627632"/>
            <a:ext cx="5650992" cy="9144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60" y="1627632"/>
            <a:ext cx="6400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8970" y="1613406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6B3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Ramadhan, J. G. (2026)</a:t>
            </a:r>
            <a:endParaRPr sz="1200" b="1" i="0" dirty="0">
              <a:solidFill>
                <a:srgbClr val="FF6B3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70502" y="1829290"/>
            <a:ext cx="55812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IoT-Based Water Quality Monitoring System Using ESP32 with NSF-WQI Method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memantau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pH, TDS, NTU, dan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suhu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secara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real-time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via web dan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notifikasi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Telegram.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Penelitian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tidak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menggunakan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aktuator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(solenoid valve)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untuk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pemblokiran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tidak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menerapkan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logika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fuzzy</a:t>
            </a:r>
            <a:endParaRPr sz="10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80760" y="2633472"/>
            <a:ext cx="5650992" cy="9144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80760" y="2633472"/>
            <a:ext cx="6400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87440" y="2670048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 err="1">
                <a:solidFill>
                  <a:srgbClr val="FF6B35"/>
                </a:solidFill>
                <a:latin typeface="Segoe UI"/>
              </a:rPr>
              <a:t>Sugiharto</a:t>
            </a:r>
            <a:r>
              <a:rPr lang="en-US" sz="1200" b="1" dirty="0">
                <a:solidFill>
                  <a:srgbClr val="FF6B35"/>
                </a:solidFill>
                <a:latin typeface="Segoe UI"/>
              </a:rPr>
              <a:t>, </a:t>
            </a:r>
            <a:r>
              <a:rPr lang="en-US" sz="1200" b="1" dirty="0" err="1">
                <a:solidFill>
                  <a:srgbClr val="FF6B35"/>
                </a:solidFill>
                <a:latin typeface="Segoe UI"/>
              </a:rPr>
              <a:t>W.H..,et</a:t>
            </a:r>
            <a:r>
              <a:rPr lang="en-US" sz="1200" b="1" dirty="0">
                <a:solidFill>
                  <a:srgbClr val="FF6B35"/>
                </a:solidFill>
                <a:latin typeface="Segoe UI"/>
              </a:rPr>
              <a:t> al.</a:t>
            </a:r>
            <a:r>
              <a:rPr sz="1200" b="1" i="0" dirty="0">
                <a:solidFill>
                  <a:srgbClr val="FF6B35"/>
                </a:solidFill>
                <a:latin typeface="Segoe UI"/>
              </a:rPr>
              <a:t>, </a:t>
            </a:r>
            <a:r>
              <a:rPr lang="en-US" sz="1200" b="1" i="0" dirty="0">
                <a:solidFill>
                  <a:srgbClr val="FF6B35"/>
                </a:solidFill>
                <a:latin typeface="Segoe UI"/>
              </a:rPr>
              <a:t>2023</a:t>
            </a:r>
            <a:endParaRPr sz="1200" b="1" i="0" dirty="0">
              <a:solidFill>
                <a:srgbClr val="FF6B35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8169" y="2931496"/>
            <a:ext cx="565099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Real-Time Water Quality Assessment via IoT Monitoring pH, TDS, Temperature, and Turbidity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IoT multi-parameter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dengan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transmisi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 real-time.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Penelitian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sebelumnya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 bersifat monitoring pasif, tanpa kendali otomatis dan tanpa integrasi Fuzzy Logic Sugeno.</a:t>
            </a:r>
            <a:endParaRPr sz="10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80760" y="3639312"/>
            <a:ext cx="5650992" cy="9144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80760" y="3639312"/>
            <a:ext cx="6400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87440" y="3616621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 err="1">
                <a:solidFill>
                  <a:srgbClr val="FF6B35"/>
                </a:solidFill>
                <a:latin typeface="Segoe UI"/>
              </a:rPr>
              <a:t>Priyanto</a:t>
            </a:r>
            <a:r>
              <a:rPr lang="en-US" sz="1200" b="1" i="0" dirty="0">
                <a:solidFill>
                  <a:srgbClr val="FF6B35"/>
                </a:solidFill>
                <a:latin typeface="Segoe UI"/>
              </a:rPr>
              <a:t>, </a:t>
            </a:r>
            <a:r>
              <a:rPr lang="en-US" sz="1200" b="1" i="0" dirty="0" err="1">
                <a:solidFill>
                  <a:srgbClr val="FF6B35"/>
                </a:solidFill>
                <a:latin typeface="Segoe UI"/>
              </a:rPr>
              <a:t>S..,et</a:t>
            </a:r>
            <a:r>
              <a:rPr lang="en-US" sz="1200" b="1" i="0" dirty="0">
                <a:solidFill>
                  <a:srgbClr val="FF6B35"/>
                </a:solidFill>
                <a:latin typeface="Segoe UI"/>
              </a:rPr>
              <a:t> al.</a:t>
            </a:r>
            <a:r>
              <a:rPr sz="1200" b="1" i="0" dirty="0">
                <a:solidFill>
                  <a:srgbClr val="FF6B35"/>
                </a:solidFill>
                <a:latin typeface="Segoe UI"/>
              </a:rPr>
              <a:t>, </a:t>
            </a:r>
            <a:r>
              <a:rPr lang="en-US" sz="1200" b="1" i="0" dirty="0">
                <a:solidFill>
                  <a:srgbClr val="FF6B35"/>
                </a:solidFill>
                <a:latin typeface="Segoe UI"/>
              </a:rPr>
              <a:t>2022</a:t>
            </a:r>
            <a:endParaRPr sz="1200" b="1" i="0" dirty="0">
              <a:solidFill>
                <a:srgbClr val="FF6B35"/>
              </a:solidFill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78970" y="3837010"/>
            <a:ext cx="5516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5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Analisis</a:t>
            </a:r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Status Mutu Air Sungai Mahakam Kota </a:t>
            </a:r>
            <a:r>
              <a:rPr lang="en-US" sz="105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Samarinda</a:t>
            </a:r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Menggunakan</a:t>
            </a:r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Metode </a:t>
            </a:r>
            <a:r>
              <a:rPr lang="en-US" sz="105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Indeks</a:t>
            </a:r>
            <a:r>
              <a:rPr lang="en-US" sz="105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Pencemaran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membuktikan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Sungai Mahakam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masuk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kategori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tercemar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ringan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penelitian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bersifat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analisis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laboratorium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tidak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menyediakan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solusi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pemantauan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berbasis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IoT di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tingkat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rumah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tangga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sz="10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4736592"/>
            <a:ext cx="11274552" cy="5029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8411" y="4764701"/>
            <a:ext cx="114079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 Research Gap: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Penelitian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terdahulu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umumnya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hanya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berfokus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pada monitoring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pasif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kualitas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tanpa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mekanisme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pemblokiran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Proyek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mengisi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celah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tersebut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dengan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mengintegrasikan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Turbidity Sensor, Solenoid Valve, Fuzzy Logic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Sugeno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dan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notifikasi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Telegram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dalam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satu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IoT yang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bekerja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secara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penuh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tingkat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rumah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tangga</a:t>
            </a:r>
            <a:r>
              <a:rPr lang="en-US" sz="1100" i="1" dirty="0">
                <a:solidFill>
                  <a:srgbClr val="90E0E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sz="1100" b="0" i="1" dirty="0">
              <a:solidFill>
                <a:srgbClr val="90E0E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5349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C5"/>
                </a:solidFill>
                <a:latin typeface="Segoe UI"/>
              </a:rPr>
              <a:t>Minimal 3–5 referensi valid (jurnal internasional, prosiding, atau buku teks).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Latar Belakang &amp; Motivasi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Mengapa proyek ini penting?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5394960" cy="43891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Segoe UI"/>
              </a:rPr>
              <a:t>🔴  Permasalahan yang Diidentifikasi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" y="1562804"/>
            <a:ext cx="535825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Kota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Samarinda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mengandalkan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Sungai Mahakam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sebagai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sumber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baku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utama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PDAM.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Namun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sungai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kerap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mengalami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penurunan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kualitas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akibat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pencemaran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industri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aktivitas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tambang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batu bara, dan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fenomena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air </a:t>
            </a:r>
            <a:r>
              <a:rPr lang="en-US" sz="120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bangai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musiman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membuat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berubah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keruh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kecokelatan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Priyanto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al., 2022).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Kondisi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menyebabkan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yang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didistribusikan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rumah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warga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sering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kali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tidak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memenuhi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standar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kelayakan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/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Ketiadaan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deteksi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dini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tingkat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konsumen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membuat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kotor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sering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terlanjur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masuk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mencemari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tandon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penyimpanan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sebelum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warga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menyadarinya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(Herawati, 2025).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Akibatnya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masyarakat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terpaksa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mengeluarkan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biaya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rutin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mengganti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filter,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menguras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tandon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bahkan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membeli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minum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alternatif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menjadi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beban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ekonomi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berkelanjutan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bagi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rumah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tangga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algn="just"/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Permasalahan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membutuhkan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solusi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teknologi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mampu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bekerja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dan real-time.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berbasis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Internet of Things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(IoT)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terbukti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mampu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memantau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parameter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kualitas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yaitu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Nephelometric Turbidity Unit (NTU),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serta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memberikan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tanpa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bergantung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pada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pengawasan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manual (Ramadhan, 2026;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Sugiharto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al., 2023).</a:t>
            </a:r>
            <a:endParaRPr sz="12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36792" y="1143000"/>
            <a:ext cx="5394960" cy="43891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1143000"/>
            <a:ext cx="539496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Segoe UI"/>
              </a:rPr>
              <a:t>🟢  Solusi yang Diusulkan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6916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Segoe UI"/>
              </a:rPr>
              <a:t>• </a:t>
            </a:r>
            <a:r>
              <a:rPr sz="1200" b="0" i="0" dirty="0" err="1">
                <a:solidFill>
                  <a:schemeClr val="bg1"/>
                </a:solidFill>
                <a:latin typeface="Segoe UI"/>
              </a:rPr>
              <a:t>Sistem</a:t>
            </a:r>
            <a:r>
              <a:rPr sz="1200" b="0" i="0" dirty="0">
                <a:solidFill>
                  <a:schemeClr val="bg1"/>
                </a:solidFill>
                <a:latin typeface="Segoe UI"/>
              </a:rPr>
              <a:t> IoT </a:t>
            </a:r>
            <a:r>
              <a:rPr sz="1200" b="0" i="0" dirty="0" err="1">
                <a:solidFill>
                  <a:schemeClr val="bg1"/>
                </a:solidFill>
                <a:latin typeface="Segoe UI"/>
              </a:rPr>
              <a:t>berbasis</a:t>
            </a:r>
            <a:r>
              <a:rPr sz="1200" b="0" i="0" dirty="0">
                <a:solidFill>
                  <a:schemeClr val="bg1"/>
                </a:solidFill>
                <a:latin typeface="Segoe UI"/>
              </a:rPr>
              <a:t> ESP32 + </a:t>
            </a:r>
            <a:r>
              <a:rPr lang="en-US" sz="1200" b="0" i="0" dirty="0">
                <a:solidFill>
                  <a:schemeClr val="bg1"/>
                </a:solidFill>
                <a:latin typeface="Segoe UI"/>
              </a:rPr>
              <a:t>Turbidity Sensor + </a:t>
            </a:r>
            <a:r>
              <a:rPr lang="en-US" sz="1200" b="0" i="0" dirty="0" err="1">
                <a:solidFill>
                  <a:schemeClr val="bg1"/>
                </a:solidFill>
                <a:latin typeface="Segoe UI"/>
              </a:rPr>
              <a:t>Selenoid</a:t>
            </a:r>
            <a:r>
              <a:rPr lang="en-US" sz="1200" b="0" i="0" dirty="0">
                <a:solidFill>
                  <a:schemeClr val="bg1"/>
                </a:solidFill>
                <a:latin typeface="Segoe UI"/>
              </a:rPr>
              <a:t> Valve + Relay Module 1 CH</a:t>
            </a:r>
            <a:endParaRPr sz="1200" b="0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9672" y="224474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Monitoring</a:t>
            </a:r>
            <a:r>
              <a:rPr lang="en-US" sz="120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Nephelometric Turbidity Unit (NTU)</a:t>
            </a:r>
            <a:r>
              <a:rPr sz="120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dipantau</a:t>
            </a:r>
            <a:r>
              <a:rPr lang="es-E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secara </a:t>
            </a:r>
            <a:r>
              <a:rPr lang="es-ES" sz="12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real-time</a:t>
            </a:r>
            <a:r>
              <a:rPr lang="es-E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24 </a:t>
            </a:r>
            <a:r>
              <a:rPr lang="es-E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jam</a:t>
            </a:r>
            <a:r>
              <a:rPr lang="es-E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secara</a:t>
            </a:r>
            <a:r>
              <a:rPr sz="120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008376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Segoe UI"/>
              </a:rPr>
              <a:t>• </a:t>
            </a:r>
            <a:r>
              <a:rPr sz="1200" b="0" i="0" dirty="0" err="1">
                <a:solidFill>
                  <a:schemeClr val="bg1"/>
                </a:solidFill>
                <a:latin typeface="Segoe UI"/>
              </a:rPr>
              <a:t>Aksesibilitas</a:t>
            </a:r>
            <a:r>
              <a:rPr sz="1200" b="0" i="0" dirty="0">
                <a:solidFill>
                  <a:schemeClr val="bg1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Segoe UI"/>
              </a:rPr>
              <a:t>melalui</a:t>
            </a:r>
            <a:r>
              <a:rPr sz="1200" b="0" i="0" dirty="0">
                <a:solidFill>
                  <a:schemeClr val="bg1"/>
                </a:solidFill>
                <a:latin typeface="Segoe UI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egoe UI"/>
              </a:rPr>
              <a:t>Telegram + Fuzzy Logic </a:t>
            </a:r>
            <a:r>
              <a:rPr lang="en-US" sz="1200" dirty="0" err="1">
                <a:solidFill>
                  <a:schemeClr val="bg1"/>
                </a:solidFill>
                <a:latin typeface="Segoe UI"/>
              </a:rPr>
              <a:t>Sugeno</a:t>
            </a:r>
            <a:endParaRPr sz="1200" b="0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19672" y="355835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Manfaat: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Mencegah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kotor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masuk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tandon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memperpanjang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umur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filter,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menghemat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biaya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dan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memberi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notifikasi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smartphone.</a:t>
            </a:r>
            <a:endParaRPr sz="12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6B35"/>
                </a:solidFill>
                <a:latin typeface="Segoe UI"/>
              </a:rPr>
              <a:t>💡  Isi bagian ini dengan konteks nyata dan data faktual yang mendukung urgensi proyek Anda.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Rumusan Masalah &amp; Tujuan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Pertanyaan penelitian dan target capaian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1127455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  <a:latin typeface="Segoe UI"/>
              </a:rPr>
              <a:t>Rumusan Masalah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3639312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411480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80260"/>
            <a:ext cx="411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37360"/>
            <a:ext cx="3044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Segoe UI"/>
              </a:rPr>
              <a:t>Pertanyaan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66543"/>
            <a:ext cx="3044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Bagaimana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merancang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IoT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berbasis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ESP32 yang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mampu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mendeteksi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kekeruhan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(NTU)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real-time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sebelum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masuk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tandon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rumah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warga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sz="12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51960" y="1627632"/>
            <a:ext cx="3639312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627632"/>
            <a:ext cx="411480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2080260"/>
            <a:ext cx="411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737360"/>
            <a:ext cx="3044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Segoe UI"/>
              </a:rPr>
              <a:t>Pertanyaan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066543"/>
            <a:ext cx="30449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Bagaimana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mengintegrasikan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Turbidity Sensor dan Solenoid Valve pada ESP32 agar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memblokir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aliran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kualitas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di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bawah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ambang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batas?</a:t>
            </a:r>
            <a:endParaRPr sz="12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46720" y="1627632"/>
            <a:ext cx="3639312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627632"/>
            <a:ext cx="411480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2080260"/>
            <a:ext cx="411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737360"/>
            <a:ext cx="3044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Segoe UI"/>
              </a:rPr>
              <a:t>Pertanyaan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066543"/>
            <a:ext cx="3044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Bagaimana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kekeruhan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diakses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dikirimkan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sebagai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notifikasi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jarak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jauh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melalui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Telegram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menggunakan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metode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Fuzzy Logic </a:t>
            </a:r>
            <a:r>
              <a:rPr lang="en-US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Sugeno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sz="12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11274552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7355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Tujuan Penelitian / Proyek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109728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✔  M</a:t>
            </a:r>
            <a:r>
              <a:rPr lang="es-E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erancang</a:t>
            </a:r>
            <a:r>
              <a:rPr lang="es-E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s-E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membangun</a:t>
            </a:r>
            <a:r>
              <a:rPr lang="es-E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prototipe </a:t>
            </a:r>
            <a:r>
              <a:rPr lang="es-E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s-E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pemantau</a:t>
            </a:r>
            <a:r>
              <a:rPr lang="es-E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kualitas</a:t>
            </a:r>
            <a:r>
              <a:rPr lang="es-E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s-E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berbasis</a:t>
            </a:r>
            <a:r>
              <a:rPr lang="es-E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ESP32 dan </a:t>
            </a:r>
            <a:r>
              <a:rPr lang="es-E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Turbidity</a:t>
            </a:r>
            <a:r>
              <a:rPr lang="es-E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Sensor</a:t>
            </a:r>
            <a:endParaRPr sz="12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4251959"/>
            <a:ext cx="109728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✔ </a:t>
            </a:r>
            <a:r>
              <a:rPr lang="en-U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Mengimplementasikan</a:t>
            </a:r>
            <a:r>
              <a:rPr lang="en-U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metode</a:t>
            </a:r>
            <a:r>
              <a:rPr lang="en-U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Fuzzy Logic </a:t>
            </a:r>
            <a:r>
              <a:rPr lang="en-U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Sugeno</a:t>
            </a:r>
            <a:r>
              <a:rPr lang="en-U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untuk</a:t>
            </a:r>
            <a:r>
              <a:rPr lang="en-U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pengambilan</a:t>
            </a:r>
            <a:r>
              <a:rPr lang="en-U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keputusan</a:t>
            </a:r>
            <a:r>
              <a:rPr lang="en-U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otomatis</a:t>
            </a:r>
            <a:r>
              <a:rPr lang="en-U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kendali</a:t>
            </a:r>
            <a:r>
              <a:rPr lang="en-US" sz="12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Solenoid Valve</a:t>
            </a:r>
            <a:endParaRPr sz="12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4754879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✔ 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Membangun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notifikasi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real-time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berbasis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Telegram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sebagai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antarmuka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pemantauan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bagi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pengguna</a:t>
            </a:r>
            <a:endParaRPr sz="12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✔</a:t>
            </a:r>
            <a:r>
              <a:rPr lang="en-US" sz="125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Menguji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akurasi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latensi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dan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keandalan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sistem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pada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kondisi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nyata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lingkungan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rumah</a:t>
            </a:r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tangga</a:t>
            </a:r>
            <a:endParaRPr sz="125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12648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 dirty="0">
                <a:solidFill>
                  <a:srgbClr val="90E0EF"/>
                </a:solidFill>
                <a:latin typeface="Segoe UI"/>
              </a:rPr>
              <a:t>📌  Batasan: </a:t>
            </a:r>
            <a:r>
              <a:rPr lang="en-US" sz="1100" i="1" dirty="0" err="1">
                <a:solidFill>
                  <a:srgbClr val="90E0EF"/>
                </a:solidFill>
              </a:rPr>
              <a:t>Sistem</a:t>
            </a:r>
            <a:r>
              <a:rPr lang="en-US" sz="1100" i="1" dirty="0">
                <a:solidFill>
                  <a:srgbClr val="90E0EF"/>
                </a:solidFill>
              </a:rPr>
              <a:t> </a:t>
            </a:r>
            <a:r>
              <a:rPr lang="en-US" sz="1100" i="1" dirty="0" err="1">
                <a:solidFill>
                  <a:srgbClr val="90E0EF"/>
                </a:solidFill>
              </a:rPr>
              <a:t>hanya</a:t>
            </a:r>
            <a:r>
              <a:rPr lang="en-US" sz="1100" i="1" dirty="0">
                <a:solidFill>
                  <a:srgbClr val="90E0EF"/>
                </a:solidFill>
              </a:rPr>
              <a:t> </a:t>
            </a:r>
            <a:r>
              <a:rPr lang="en-US" sz="1100" i="1" dirty="0" err="1">
                <a:solidFill>
                  <a:srgbClr val="90E0EF"/>
                </a:solidFill>
              </a:rPr>
              <a:t>menggunakan</a:t>
            </a:r>
            <a:r>
              <a:rPr lang="en-US" sz="1100" i="1" dirty="0">
                <a:solidFill>
                  <a:srgbClr val="90E0EF"/>
                </a:solidFill>
              </a:rPr>
              <a:t> sensor turbidity (NTU), </a:t>
            </a:r>
            <a:r>
              <a:rPr lang="en-US" sz="1100" i="1" dirty="0" err="1">
                <a:solidFill>
                  <a:srgbClr val="90E0EF"/>
                </a:solidFill>
              </a:rPr>
              <a:t>diterapkan</a:t>
            </a:r>
            <a:r>
              <a:rPr lang="en-US" sz="1100" i="1" dirty="0">
                <a:solidFill>
                  <a:srgbClr val="90E0EF"/>
                </a:solidFill>
              </a:rPr>
              <a:t> pada </a:t>
            </a:r>
            <a:r>
              <a:rPr lang="en-US" sz="1100" i="1" dirty="0" err="1">
                <a:solidFill>
                  <a:srgbClr val="90E0EF"/>
                </a:solidFill>
              </a:rPr>
              <a:t>skala</a:t>
            </a:r>
            <a:r>
              <a:rPr lang="en-US" sz="1100" i="1" dirty="0">
                <a:solidFill>
                  <a:srgbClr val="90E0EF"/>
                </a:solidFill>
              </a:rPr>
              <a:t> </a:t>
            </a:r>
            <a:r>
              <a:rPr lang="en-US" sz="1100" i="1" dirty="0" err="1">
                <a:solidFill>
                  <a:srgbClr val="90E0EF"/>
                </a:solidFill>
              </a:rPr>
              <a:t>rumah</a:t>
            </a:r>
            <a:r>
              <a:rPr lang="en-US" sz="1100" i="1" dirty="0">
                <a:solidFill>
                  <a:srgbClr val="90E0EF"/>
                </a:solidFill>
              </a:rPr>
              <a:t> </a:t>
            </a:r>
            <a:r>
              <a:rPr lang="en-US" sz="1100" i="1" dirty="0" err="1">
                <a:solidFill>
                  <a:srgbClr val="90E0EF"/>
                </a:solidFill>
              </a:rPr>
              <a:t>tangga</a:t>
            </a:r>
            <a:r>
              <a:rPr lang="en-US" sz="1100" i="1" dirty="0">
                <a:solidFill>
                  <a:srgbClr val="90E0EF"/>
                </a:solidFill>
              </a:rPr>
              <a:t>, dan </a:t>
            </a:r>
            <a:r>
              <a:rPr lang="en-US" sz="1100" i="1" dirty="0" err="1">
                <a:solidFill>
                  <a:srgbClr val="90E0EF"/>
                </a:solidFill>
              </a:rPr>
              <a:t>notifikasi</a:t>
            </a:r>
            <a:r>
              <a:rPr lang="en-US" sz="1100" i="1" dirty="0">
                <a:solidFill>
                  <a:srgbClr val="90E0EF"/>
                </a:solidFill>
              </a:rPr>
              <a:t> </a:t>
            </a:r>
            <a:r>
              <a:rPr lang="en-US" sz="1100" i="1" dirty="0" err="1">
                <a:solidFill>
                  <a:srgbClr val="90E0EF"/>
                </a:solidFill>
              </a:rPr>
              <a:t>hanya</a:t>
            </a:r>
            <a:r>
              <a:rPr lang="en-US" sz="1100" i="1" dirty="0">
                <a:solidFill>
                  <a:srgbClr val="90E0EF"/>
                </a:solidFill>
              </a:rPr>
              <a:t> </a:t>
            </a:r>
            <a:r>
              <a:rPr lang="en-US" sz="1100" i="1" dirty="0" err="1">
                <a:solidFill>
                  <a:srgbClr val="90E0EF"/>
                </a:solidFill>
              </a:rPr>
              <a:t>melalui</a:t>
            </a:r>
            <a:r>
              <a:rPr lang="en-US" sz="1100" i="1" dirty="0">
                <a:solidFill>
                  <a:srgbClr val="90E0EF"/>
                </a:solidFill>
              </a:rPr>
              <a:t> Telegram Bot.</a:t>
            </a:r>
            <a:endParaRPr sz="1100" i="1" dirty="0">
              <a:solidFill>
                <a:srgbClr val="90E0E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Arsitektur Sistem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Model 3 layer: Perception → Network → Application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11274552" cy="1417320"/>
          </a:xfrm>
          <a:prstGeom prst="rect">
            <a:avLst/>
          </a:prstGeom>
          <a:solidFill>
            <a:srgbClr val="06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64592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17043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LAYER 1 — PERCEPTION  (Edge / Device Layer)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581912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64592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ESP8266MOD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581912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Turbidity Sensor Seno189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9632" y="1581912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1645920"/>
            <a:ext cx="2377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Selenoid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Valve + Relay Module 1 CH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24544" y="1581912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15984" y="16459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Power supply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lokal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62432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90E0EF"/>
                </a:solidFill>
                <a:latin typeface="Segoe UI"/>
              </a:rPr>
              <a:t>↕  </a:t>
            </a:r>
            <a:r>
              <a:rPr sz="1100" b="0" i="1" dirty="0" err="1">
                <a:solidFill>
                  <a:srgbClr val="90E0EF"/>
                </a:solidFill>
                <a:latin typeface="Segoe UI"/>
              </a:rPr>
              <a:t>WiFi</a:t>
            </a:r>
            <a:r>
              <a:rPr sz="1100" b="0" i="1" dirty="0">
                <a:solidFill>
                  <a:srgbClr val="90E0EF"/>
                </a:solidFill>
                <a:latin typeface="Segoe UI"/>
              </a:rPr>
              <a:t> / BLE / MQ</a:t>
            </a:r>
            <a:r>
              <a:rPr lang="en-US" sz="1100" b="0" i="1" dirty="0">
                <a:solidFill>
                  <a:srgbClr val="90E0EF"/>
                </a:solidFill>
                <a:latin typeface="Segoe UI"/>
              </a:rPr>
              <a:t>TT / HTT</a:t>
            </a:r>
            <a:r>
              <a:rPr sz="1100" b="0" i="1" dirty="0">
                <a:solidFill>
                  <a:srgbClr val="90E0EF"/>
                </a:solidFill>
                <a:latin typeface="Segoe UI"/>
              </a:rPr>
              <a:t>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2633472"/>
            <a:ext cx="11091672" cy="0"/>
          </a:xfrm>
          <a:prstGeom prst="line">
            <a:avLst/>
          </a:prstGeom>
          <a:ln w="1270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7200" y="2761488"/>
            <a:ext cx="11274552" cy="1417320"/>
          </a:xfrm>
          <a:prstGeom prst="rect">
            <a:avLst/>
          </a:prstGeom>
          <a:solidFill>
            <a:srgbClr val="04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761488"/>
            <a:ext cx="164592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27889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LAYER 2 — NETWORK  (Gateway / Connectivity Layer)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3200400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32644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WiFi Router / Hotspot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200400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0" y="32644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MQTT Broker
(Mosquitto / HiveMQ)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200400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32644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Cloud Server
(VPS / Hosting)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24544" y="3200400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984" y="32644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Protocol Bridge
(REST API / WS)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solidFill>
                  <a:srgbClr val="90E0EF"/>
                </a:solidFill>
                <a:latin typeface="Segoe UI"/>
              </a:rPr>
              <a:t>↕  Internet / LAN / API Request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4251960"/>
            <a:ext cx="11091672" cy="0"/>
          </a:xfrm>
          <a:prstGeom prst="line">
            <a:avLst/>
          </a:prstGeom>
          <a:ln w="1270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57200" y="4389120"/>
            <a:ext cx="11274552" cy="1417320"/>
          </a:xfrm>
          <a:prstGeom prst="rect">
            <a:avLst/>
          </a:prstGeom>
          <a:solidFill>
            <a:srgbClr val="0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389120"/>
            <a:ext cx="164592" cy="1417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441655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LAYER 3 — APPLICATION  (User / Service Layer)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828032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7" y="4892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Web Dashboard
(Browser)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828032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4892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Mobile App
(Blynk / custom)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4828032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91072" y="4892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Notifikasi
(Telegram / Email)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4544" y="4828032"/>
            <a:ext cx="2468880" cy="8229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15984" y="4892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Database / Log
(InfluxDB / MySQL)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C5"/>
                </a:solidFill>
                <a:latin typeface="Segoe UI"/>
              </a:rPr>
              <a:t>Petunjuk: Beri tanda/highlight pada komponen yang benar-benar Anda implementasikan. Tambahkan gambar arsitektur end-to-end milik proyek Anda jika tersedia.</a:t>
            </a:r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8D0BDD0E-45B7-68AC-47E7-8EE3A4D8DE86}"/>
              </a:ext>
            </a:extLst>
          </p:cNvPr>
          <p:cNvSpPr/>
          <p:nvPr/>
        </p:nvSpPr>
        <p:spPr>
          <a:xfrm>
            <a:off x="766742" y="3205649"/>
            <a:ext cx="103631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33">
            <a:extLst>
              <a:ext uri="{FF2B5EF4-FFF2-40B4-BE49-F238E27FC236}">
                <a16:creationId xmlns:a16="http://schemas.microsoft.com/office/drawing/2014/main" id="{3784BBEB-6810-FB5B-E83B-001664E7EB06}"/>
              </a:ext>
            </a:extLst>
          </p:cNvPr>
          <p:cNvSpPr/>
          <p:nvPr/>
        </p:nvSpPr>
        <p:spPr>
          <a:xfrm>
            <a:off x="6218602" y="4836498"/>
            <a:ext cx="90758" cy="7879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Spesifikasi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Hardware &amp; Software yang digunakan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2103120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  <a:latin typeface="Segoe UI"/>
              </a:rPr>
              <a:t>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Segoe UI"/>
              </a:rPr>
              <a:t>Mikrokontroler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
ESP</a:t>
            </a:r>
            <a:r>
              <a:rPr lang="en-US" sz="1100" b="1" i="0" dirty="0">
                <a:solidFill>
                  <a:srgbClr val="FFFFFF"/>
                </a:solidFill>
                <a:latin typeface="Segoe UI"/>
              </a:rPr>
              <a:t>8266MOD</a:t>
            </a:r>
            <a:endParaRPr sz="11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0" y="1188720"/>
            <a:ext cx="2103120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  <a:latin typeface="Segoe UI"/>
              </a:rPr>
              <a:t>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8308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Sensor
[</a:t>
            </a:r>
            <a:r>
              <a:rPr lang="en-US" sz="1100" b="1" i="0" dirty="0">
                <a:solidFill>
                  <a:srgbClr val="FFFFFF"/>
                </a:solidFill>
                <a:latin typeface="Segoe UI"/>
              </a:rPr>
              <a:t>Turbidity SENO189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188720"/>
            <a:ext cx="2103120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  <a:latin typeface="Segoe UI"/>
              </a:rPr>
              <a:t>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8308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Segoe UI"/>
              </a:rPr>
              <a:t>Protokol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
</a:t>
            </a:r>
            <a:r>
              <a:rPr lang="en-US" sz="1100" b="1" dirty="0">
                <a:solidFill>
                  <a:srgbClr val="FFFFFF"/>
                </a:solidFill>
                <a:latin typeface="Segoe UI"/>
              </a:rPr>
              <a:t>TCP</a:t>
            </a:r>
            <a:endParaRPr sz="11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0" y="1188720"/>
            <a:ext cx="2103120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  <a:latin typeface="Segoe UI"/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78308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Segoe UI"/>
              </a:rPr>
              <a:t>Aktuator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
</a:t>
            </a:r>
            <a:r>
              <a:rPr lang="en-US" sz="1100" b="1" i="0" dirty="0" err="1">
                <a:solidFill>
                  <a:srgbClr val="FFFFFF"/>
                </a:solidFill>
                <a:latin typeface="Segoe UI"/>
              </a:rPr>
              <a:t>Selenoid</a:t>
            </a:r>
            <a:r>
              <a:rPr lang="en-US" sz="1100" b="1" i="0" dirty="0">
                <a:solidFill>
                  <a:srgbClr val="FFFFFF"/>
                </a:solidFill>
                <a:latin typeface="Segoe UI"/>
              </a:rPr>
              <a:t> Valve</a:t>
            </a:r>
            <a:endParaRPr sz="11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01200" y="1188720"/>
            <a:ext cx="2103120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  <a:latin typeface="Segoe UI"/>
              </a:rPr>
              <a:t>🖥️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78308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i="0" dirty="0" err="1">
                <a:solidFill>
                  <a:srgbClr val="FFFFFF"/>
                </a:solidFill>
                <a:latin typeface="Segoe UI"/>
              </a:rPr>
              <a:t>Antarmuka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
</a:t>
            </a:r>
            <a:r>
              <a:rPr lang="en-US" sz="1100" b="1" i="0" dirty="0">
                <a:solidFill>
                  <a:srgbClr val="FFFFFF"/>
                </a:solidFill>
                <a:latin typeface="Segoe UI"/>
              </a:rPr>
              <a:t>Telegram</a:t>
            </a:r>
            <a:endParaRPr sz="11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2834640"/>
            <a:ext cx="1127455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28620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  <a:latin typeface="Segoe UI"/>
              </a:rPr>
              <a:t>Spesifikasi Teknis Utama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3649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Mikrokontroler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364992"/>
            <a:ext cx="8321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FFFFF"/>
                </a:solidFill>
                <a:latin typeface="Segoe UI"/>
              </a:rPr>
              <a:t>ESP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8266MOD 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— 80 MHz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16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0KB SRAM,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WiFi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Standar 802.11 b/g/n (2.4 GHz)</a:t>
            </a:r>
            <a:endParaRPr sz="12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3794760"/>
            <a:ext cx="11274552" cy="4572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82219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Sensor Utama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822191"/>
            <a:ext cx="8321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Segoe UI"/>
              </a:rPr>
              <a:t>Turbidity Seno189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—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Tegangan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±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5.0 VDC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Time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Respon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&lt; 500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ms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, R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ange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Pengukuran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±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0 - 3000 NT</a:t>
            </a:r>
            <a:endParaRPr sz="12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2793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Koneksi Jaringan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279392"/>
            <a:ext cx="8321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Segoe UI"/>
              </a:rPr>
              <a:t>WIFI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Standar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802.11 b/g/n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2.4GHz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47365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Power Supply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736592"/>
            <a:ext cx="8321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Segoe UI"/>
              </a:rPr>
              <a:t>Adaptor —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konsumsi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daya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500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66360"/>
            <a:ext cx="11274552" cy="4572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5193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Platform /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193792"/>
            <a:ext cx="8321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Segoe UI"/>
              </a:rPr>
              <a:t>Arduino IDE + </a:t>
            </a:r>
            <a:r>
              <a:rPr lang="en-US" sz="1200" b="0" i="0" dirty="0" err="1">
                <a:solidFill>
                  <a:srgbClr val="FFFFFF"/>
                </a:solidFill>
                <a:latin typeface="Segoe UI"/>
              </a:rPr>
              <a:t>eFLL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 (Embedded Fuzzy Logic Library) + Universal Telegram Bot</a:t>
            </a:r>
            <a:endParaRPr sz="12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56509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Protokol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650992"/>
            <a:ext cx="8321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HTTPS </a:t>
            </a:r>
            <a:r>
              <a:rPr lang="en-US" sz="1200" b="0" i="0" dirty="0" err="1">
                <a:solidFill>
                  <a:srgbClr val="FFFFFF"/>
                </a:solidFill>
                <a:latin typeface="Segoe UI"/>
              </a:rPr>
              <a:t>dengan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 Format JSON</a:t>
            </a:r>
            <a:endParaRPr sz="1200" b="0" i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Desain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Blok diagram &amp; wiring rangkaian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7498079" cy="50749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BEC5"/>
                </a:solidFill>
                <a:latin typeface="Segoe UI"/>
              </a:rPr>
              <a:t>[ Tempelkan gambar blok diagram sistem Anda di sini ]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143000"/>
            <a:ext cx="3593592" cy="50749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60" y="1143000"/>
            <a:ext cx="359359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1704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Segoe UI"/>
              </a:rPr>
              <a:t>Keterangan Komponen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ESP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8266MOD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→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otak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/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pemroses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utama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Turbidity Seno189 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→ input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NTU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67264" y="2651324"/>
            <a:ext cx="34644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Selenoid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Valve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→ output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Keruh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=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Tertutup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Jernih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= Terbuka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5320" y="3178632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Power supply →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Adaptor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20" y="3638008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Koneksi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→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HTTPS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Bentuk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JSON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67264" y="40973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Relay →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kendali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beban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AC/DC</a:t>
            </a:r>
          </a:p>
        </p:txBody>
      </p:sp>
      <p:pic>
        <p:nvPicPr>
          <p:cNvPr id="23" name="Gambar 22">
            <a:extLst>
              <a:ext uri="{FF2B5EF4-FFF2-40B4-BE49-F238E27FC236}">
                <a16:creationId xmlns:a16="http://schemas.microsoft.com/office/drawing/2014/main" id="{9C0DFFF2-D413-713F-FA55-5C0D94DCF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135938"/>
            <a:ext cx="7446426" cy="50636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Skematik &amp; Wiring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Pin mapping ESP32 ke komponen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7498079" cy="50749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749807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i="1" dirty="0">
                <a:solidFill>
                  <a:srgbClr val="B0BEC5"/>
                </a:solidFill>
                <a:latin typeface="Segoe UI"/>
              </a:rPr>
              <a:t>SKEMATIKA &amp; WIRING DIAGRAM</a:t>
            </a:r>
            <a:endParaRPr sz="1300" b="0" i="1" dirty="0">
              <a:solidFill>
                <a:srgbClr val="B0BEC5"/>
              </a:solidFill>
              <a:latin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38160" y="1143000"/>
            <a:ext cx="3593592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17043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Pin Mapping ESP32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27632"/>
            <a:ext cx="3593592" cy="4572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550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IO27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655064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Segoe UI"/>
              </a:rPr>
              <a:t>TURBIDITY SENSOR SENO189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38160" y="2084832"/>
            <a:ext cx="3593592" cy="4572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1122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IO21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112264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Segoe UI"/>
              </a:rPr>
              <a:t>RELAY MODULLE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38160" y="2542032"/>
            <a:ext cx="3593592" cy="4572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5694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IO22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569464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Segoe UI"/>
              </a:rPr>
              <a:t>POWER BATERAI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38160" y="2999232"/>
            <a:ext cx="3593592" cy="4572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30266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IO14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026664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Segoe UI"/>
              </a:rPr>
              <a:t>SELENOID VALVE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38160" y="4828032"/>
            <a:ext cx="3593592" cy="4572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Gambar 34">
            <a:extLst>
              <a:ext uri="{FF2B5EF4-FFF2-40B4-BE49-F238E27FC236}">
                <a16:creationId xmlns:a16="http://schemas.microsoft.com/office/drawing/2014/main" id="{F0DE2E2D-1D97-F2B8-E2A4-9D4255C96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27632"/>
            <a:ext cx="7226443" cy="4476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Foto Alat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Hasil fisik prototipe yang telah dibangun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5943600" cy="3931920"/>
          </a:xfrm>
          <a:prstGeom prst="rect">
            <a:avLst/>
          </a:prstGeom>
          <a:solidFill>
            <a:srgbClr val="0E2A5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943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EC5"/>
                </a:solidFill>
                <a:latin typeface="Segoe UI"/>
              </a:rPr>
              <a:t>📷
Foto utama alat dari depan
(tampilkan keseluruhan rangkaian)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38928"/>
            <a:ext cx="59436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15721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  <a:latin typeface="Segoe UI"/>
              </a:rPr>
              <a:t>Tampak Depan — Alat Lengkap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143000"/>
            <a:ext cx="2560320" cy="2331720"/>
          </a:xfrm>
          <a:prstGeom prst="rect">
            <a:avLst/>
          </a:prstGeom>
          <a:solidFill>
            <a:srgbClr val="0E2A5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23444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5"/>
                </a:solidFill>
                <a:latin typeface="Segoe UI"/>
              </a:rPr>
              <a:t>📷
Foto close-up
sensor &amp; kabel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547872"/>
            <a:ext cx="256032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Detail Sensor &amp; Wiring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90888" y="1143000"/>
            <a:ext cx="2560320" cy="2331720"/>
          </a:xfrm>
          <a:prstGeom prst="rect">
            <a:avLst/>
          </a:prstGeom>
          <a:solidFill>
            <a:srgbClr val="0E2A5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123444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EC5"/>
                </a:solidFill>
                <a:latin typeface="Segoe UI"/>
              </a:rPr>
              <a:t>📷
Foto layar OLED
atau screenshot HP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0888" y="3547872"/>
            <a:ext cx="256032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90888" y="3566160"/>
            <a:ext cx="256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Segoe UI"/>
              </a:rPr>
              <a:t>Tampilan</a:t>
            </a:r>
            <a:r>
              <a:rPr sz="1000" b="1" i="0" dirty="0">
                <a:solidFill>
                  <a:srgbClr val="FFFFFF"/>
                </a:solidFill>
                <a:latin typeface="Segoe UI"/>
              </a:rPr>
              <a:t> Dashboard</a:t>
            </a:r>
            <a:r>
              <a:rPr lang="en-US" sz="1000" b="1" dirty="0">
                <a:solidFill>
                  <a:srgbClr val="FFFFFF"/>
                </a:solidFill>
                <a:latin typeface="Segoe UI"/>
              </a:rPr>
              <a:t> Telegram</a:t>
            </a:r>
            <a:endParaRPr sz="1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4041648"/>
            <a:ext cx="5422392" cy="1481328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4041648"/>
            <a:ext cx="64008" cy="14813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40965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🎬  Demo Video</a:t>
            </a:r>
          </a:p>
        </p:txBody>
      </p:sp>
      <p:pic>
        <p:nvPicPr>
          <p:cNvPr id="30" name="Gambar 29">
            <a:extLst>
              <a:ext uri="{FF2B5EF4-FFF2-40B4-BE49-F238E27FC236}">
                <a16:creationId xmlns:a16="http://schemas.microsoft.com/office/drawing/2014/main" id="{40C746E0-BF61-16EE-D763-D43319E9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52" b="21510"/>
          <a:stretch>
            <a:fillRect/>
          </a:stretch>
        </p:blipFill>
        <p:spPr>
          <a:xfrm>
            <a:off x="6647688" y="1216153"/>
            <a:ext cx="2428935" cy="2185415"/>
          </a:xfrm>
          <a:prstGeom prst="rect">
            <a:avLst/>
          </a:prstGeom>
        </p:spPr>
      </p:pic>
      <p:pic>
        <p:nvPicPr>
          <p:cNvPr id="32" name="Gambar 31">
            <a:extLst>
              <a:ext uri="{FF2B5EF4-FFF2-40B4-BE49-F238E27FC236}">
                <a16:creationId xmlns:a16="http://schemas.microsoft.com/office/drawing/2014/main" id="{1DE15EC2-9E7C-48F0-255F-A38600F17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61873"/>
            <a:ext cx="5806440" cy="3714388"/>
          </a:xfrm>
          <a:prstGeom prst="rect">
            <a:avLst/>
          </a:prstGeom>
        </p:spPr>
      </p:pic>
      <p:pic>
        <p:nvPicPr>
          <p:cNvPr id="38" name="Gambar 37">
            <a:extLst>
              <a:ext uri="{FF2B5EF4-FFF2-40B4-BE49-F238E27FC236}">
                <a16:creationId xmlns:a16="http://schemas.microsoft.com/office/drawing/2014/main" id="{64177D38-90BD-08AC-A77C-6E55F716F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081" y="1188720"/>
            <a:ext cx="2411119" cy="2240280"/>
          </a:xfrm>
          <a:prstGeom prst="rect">
            <a:avLst/>
          </a:prstGeom>
        </p:spPr>
      </p:pic>
      <p:pic>
        <p:nvPicPr>
          <p:cNvPr id="40" name="Gambar 39">
            <a:extLst>
              <a:ext uri="{FF2B5EF4-FFF2-40B4-BE49-F238E27FC236}">
                <a16:creationId xmlns:a16="http://schemas.microsoft.com/office/drawing/2014/main" id="{CD7D359C-B919-E077-2ACF-C487868D5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4178808"/>
            <a:ext cx="1257808" cy="1257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Desain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Flowchart &amp; arsitektur firmware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5303520" cy="50749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3035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EC5"/>
                </a:solidFill>
                <a:latin typeface="Segoe UI"/>
              </a:rPr>
              <a:t>[ Tempelkan gambar flowchart program Anda di sini ]
Gunakan draw.io / Lucidchart / Visio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43000"/>
            <a:ext cx="578815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1704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Segoe UI"/>
              </a:rPr>
              <a:t>Alur Program Utama (Arduino Loop)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27632"/>
            <a:ext cx="100584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167335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F44"/>
                </a:solidFill>
                <a:latin typeface="Segoe UI"/>
              </a:rPr>
              <a:t>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1627632"/>
            <a:ext cx="4736592" cy="53035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1700784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FFFFFF"/>
                </a:solidFill>
                <a:latin typeface="Segoe UI"/>
              </a:rPr>
              <a:t>Inisialisasi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WiFi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, sensor,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aktuator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,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396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  <a:latin typeface="Segoe U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286000"/>
            <a:ext cx="100584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2331720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F44"/>
                </a:solidFill>
                <a:latin typeface="Segoe UI"/>
              </a:rPr>
              <a:t>READ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286000"/>
            <a:ext cx="4736592" cy="53035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0" y="235915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Baca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semua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nilai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sensor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turbidity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ntu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27980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  <a:latin typeface="Segoe U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944368"/>
            <a:ext cx="100584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2990087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F44"/>
                </a:solidFill>
                <a:latin typeface="Segoe UI"/>
              </a:rPr>
              <a:t>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944368"/>
            <a:ext cx="4736592" cy="53035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86600" y="301752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FFFFFF"/>
                </a:solidFill>
                <a:latin typeface="Segoe UI"/>
              </a:rPr>
              <a:t>Validasi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, filter noise,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konversi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satuan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logika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kendali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, Fuzzy logic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sugeno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34564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  <a:latin typeface="Segoe U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02736"/>
            <a:ext cx="100584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364845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F44"/>
                </a:solidFill>
                <a:latin typeface="Segoe UI"/>
              </a:rPr>
              <a:t>TRANSMIT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3602736"/>
            <a:ext cx="4736592" cy="53035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86600" y="367588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Kirim data via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HTTPS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63640" y="41148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  <a:latin typeface="Segoe U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261104"/>
            <a:ext cx="100584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0" y="430682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F44"/>
                </a:solidFill>
                <a:latin typeface="Segoe UI"/>
              </a:rPr>
              <a:t>DISPLAY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4261104"/>
            <a:ext cx="4736592" cy="53035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86600" y="433425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FFFFFF"/>
                </a:solidFill>
                <a:latin typeface="Segoe UI"/>
              </a:rPr>
              <a:t>Tampilkan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data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ke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Telegram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63640" y="47731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  <a:latin typeface="Segoe U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919472"/>
            <a:ext cx="100584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0" y="496519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F44"/>
                </a:solidFill>
                <a:latin typeface="Segoe UI"/>
              </a:rPr>
              <a:t>DELAY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4919472"/>
            <a:ext cx="4736592" cy="53035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86600" y="499262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Tunggu interval pengambilan data berikutnya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43153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  <a:latin typeface="Segoe UI"/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5577840"/>
            <a:ext cx="100584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0" y="5623560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F44"/>
                </a:solidFill>
                <a:latin typeface="Segoe UI"/>
              </a:rPr>
              <a:t>REPEAT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60" y="5577840"/>
            <a:ext cx="4736592" cy="53035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86600" y="565099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Kembali ke tahap READ — loop tak terbatas</a:t>
            </a:r>
          </a:p>
        </p:txBody>
      </p:sp>
      <p:pic>
        <p:nvPicPr>
          <p:cNvPr id="49" name="Gambar 48">
            <a:extLst>
              <a:ext uri="{FF2B5EF4-FFF2-40B4-BE49-F238E27FC236}">
                <a16:creationId xmlns:a16="http://schemas.microsoft.com/office/drawing/2014/main" id="{CFC93D2C-6B86-E50D-192A-DD63FC4FB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143000"/>
            <a:ext cx="5175504" cy="50529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Implementasi Kode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Cuplikan kode penting (key snippets)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5394960" cy="2404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394960" cy="384048"/>
          </a:xfrm>
          <a:prstGeom prst="rect">
            <a:avLst/>
          </a:prstGeom>
          <a:solidFill>
            <a:srgbClr val="16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61288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90E0EF"/>
                </a:solidFill>
                <a:latin typeface="Segoe UI"/>
              </a:rPr>
              <a:t>📄  Baca Sensor &amp; </a:t>
            </a:r>
            <a:r>
              <a:rPr lang="en-US" sz="1100" b="1" i="0" dirty="0">
                <a:solidFill>
                  <a:srgbClr val="90E0EF"/>
                </a:solidFill>
                <a:latin typeface="Segoe UI"/>
              </a:rPr>
              <a:t>Fuzzy Logic</a:t>
            </a:r>
            <a:endParaRPr sz="1100" b="1" i="0" dirty="0">
              <a:solidFill>
                <a:srgbClr val="90E0EF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776" y="1487159"/>
            <a:ext cx="516636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#include &lt;ESP8266WiFi.h&gt;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#include &lt;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WiFiClientSecure.h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#include &lt;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Fuzzy.h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 ---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Konfigurasi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Pin sensor dan relay ---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 int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PinTurbidity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A0;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 int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PinRelay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    = D1; 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String 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statusAir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"";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if (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z_akhir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&lt;= 1.5) {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statusAir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"AIR JERNIH";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digitalWrite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PinRelay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LOW);  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} 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else if (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z_akhir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&gt; 1.5 &amp;&amp; 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z_akhir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&lt;= 2.5) {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statusAir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"AIR KERUH";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digitalWrite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PinRelay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HIGH); 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} 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else {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statusAir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"AIR SANGAT KERUH";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digitalWrite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7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PinRelay</a:t>
            </a:r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HIGH); </a:t>
            </a:r>
          </a:p>
          <a:p>
            <a:r>
              <a:rPr lang="en-US" sz="7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}</a:t>
            </a:r>
          </a:p>
          <a:p>
            <a:endParaRPr lang="en-US" sz="600" dirty="0">
              <a:solidFill>
                <a:srgbClr val="92D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36792" y="1142999"/>
            <a:ext cx="5394960" cy="240487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36792" y="1143000"/>
            <a:ext cx="5394960" cy="384048"/>
          </a:xfrm>
          <a:prstGeom prst="rect">
            <a:avLst/>
          </a:prstGeom>
          <a:solidFill>
            <a:srgbClr val="16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161288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6B35"/>
                </a:solidFill>
                <a:latin typeface="Segoe UI"/>
              </a:rPr>
              <a:t>📄 </a:t>
            </a:r>
            <a:r>
              <a:rPr lang="en-US" sz="1100" b="1" i="0" dirty="0">
                <a:solidFill>
                  <a:srgbClr val="FF6B35"/>
                </a:solidFill>
                <a:latin typeface="Segoe UI"/>
              </a:rPr>
              <a:t>Fuzzy Logic &amp; Telegram</a:t>
            </a:r>
            <a:endParaRPr sz="1100" b="1" i="0" dirty="0">
              <a:solidFill>
                <a:srgbClr val="FF6B35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3952" y="1486409"/>
            <a:ext cx="50474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FuzzyInput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*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kekeruhanInput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new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FuzzyInput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(1);</a:t>
            </a:r>
          </a:p>
          <a:p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*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jernih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new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(0, 0, 25, 50);</a:t>
            </a:r>
          </a:p>
          <a:p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kekeruhanInput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-&gt;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jernih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);  </a:t>
            </a:r>
          </a:p>
          <a:p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*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keruh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new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(25, 100, 200, 400);</a:t>
            </a:r>
          </a:p>
          <a:p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kekeruhanInput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-&gt;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keruh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);</a:t>
            </a:r>
          </a:p>
          <a:p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*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kotor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new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(200, 400, 3000, 3000);</a:t>
            </a:r>
          </a:p>
          <a:p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kekeruhanInput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-&gt;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addFuzzySet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kotor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fuzzy-&gt;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addFuzzyInput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kekeruhanInput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Insialiasi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Telegram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 char*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ssid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    = "NAMA_WIFI_KAMU";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 char* password = "PASSWORD_WIFI_KAMU";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 char*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botToken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"TOKEN_BOT_TELEGRAM"; 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 char*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chatId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  = "ID_CHAT";   </a:t>
            </a:r>
          </a:p>
          <a:p>
            <a:endParaRPr lang="en-US" sz="600" dirty="0">
              <a:solidFill>
                <a:srgbClr val="92D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//Proses Telegram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(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client.connect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("api.telegram.org", 443)) {      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String payload = "{\"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chat_id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\":\"" + String(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chatId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+ "\",\"text\":\"" +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pesan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+ "\"}";      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client.println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("POST /bot" + String(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botToken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+ "/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sendMessage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HTTP/1.1");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 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client.println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("Host: api.telegram.org");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 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client.println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("Content-Type: application/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json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");</a:t>
            </a:r>
          </a:p>
          <a:p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  </a:t>
            </a:r>
            <a:r>
              <a:rPr lang="en-US" sz="600" dirty="0" err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client.print</a:t>
            </a:r>
            <a:r>
              <a:rPr lang="en-US" sz="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("Content-Length: ");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Segoe UI"/>
              </a:rPr>
              <a:t>Penjelasan Logika Kritis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78808"/>
            <a:ext cx="11274552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  <a:latin typeface="Segoe UI"/>
              </a:rPr>
              <a:t>Inisialisasi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06240"/>
            <a:ext cx="9052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Fuzzy.h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melakukan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inisialisasi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Algoritma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fuzzy dan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melakukan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insialisasi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Pin Relay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serta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Status air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727448"/>
            <a:ext cx="11274552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754879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  <a:latin typeface="Segoe UI"/>
              </a:rPr>
              <a:t>Loop Utama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754879"/>
            <a:ext cx="9052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FFFFFF"/>
                </a:solidFill>
                <a:latin typeface="Segoe UI"/>
              </a:rPr>
              <a:t>Setiap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1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detik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membaca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sensor,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memproses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nilai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, dan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mengirim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ke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telegram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76088"/>
            <a:ext cx="11274552" cy="512064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3035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  <a:latin typeface="Segoe UI"/>
              </a:rPr>
              <a:t>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03520"/>
            <a:ext cx="9052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Jika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sistem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gagal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maka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masuk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sleep mode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.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Bill of Materials (BOM)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Daftar komponen dan estimasi biaya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411480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  <a:latin typeface="Segoe UI"/>
              </a:rPr>
              <a:t>No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143000"/>
            <a:ext cx="2743200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1612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  <a:latin typeface="Segoe UI"/>
              </a:rPr>
              <a:t>Nama Komponen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143000"/>
            <a:ext cx="3246120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161288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  <a:latin typeface="Segoe UI"/>
              </a:rPr>
              <a:t>Spesifikasi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143000"/>
            <a:ext cx="777240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59" y="116128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  <a:latin typeface="Segoe UI"/>
              </a:rPr>
              <a:t>Jumlah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143000"/>
            <a:ext cx="1874519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1161288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  <a:latin typeface="Segoe UI"/>
              </a:rPr>
              <a:t>Harga Satuan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143000"/>
            <a:ext cx="2039112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1161288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  <a:latin typeface="Segoe UI"/>
              </a:rPr>
              <a:t>Subtotal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64208"/>
            <a:ext cx="41148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1664208"/>
            <a:ext cx="274320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1691640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ESP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8266MOD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57600" y="1664208"/>
            <a:ext cx="324612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3320" y="1691640"/>
            <a:ext cx="31546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80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M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Hz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+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WiFi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Standar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802.11 b/g/n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49440" y="1664208"/>
            <a:ext cx="77724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95159" y="169164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1664208"/>
            <a:ext cx="1874519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1691640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Rp 65.000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664208"/>
            <a:ext cx="2039112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38360" y="1691640"/>
            <a:ext cx="19476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120.000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2121408"/>
            <a:ext cx="41148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2121408"/>
            <a:ext cx="274320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FFFFFF"/>
                </a:solidFill>
                <a:latin typeface="Segoe UI"/>
              </a:rPr>
              <a:t>Bluino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IoT Starter Kit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2121408"/>
            <a:ext cx="324612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03320" y="2148840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Shield +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komponen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kit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2121408"/>
            <a:ext cx="77724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59" y="214884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2121408"/>
            <a:ext cx="1874519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20" y="2148840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Rp 250.000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121408"/>
            <a:ext cx="2039112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38360" y="2148840"/>
            <a:ext cx="1947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egoe UI"/>
              </a:rPr>
              <a:t>Rp 250.000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78608"/>
            <a:ext cx="41148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2578608"/>
            <a:ext cx="274320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2606040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Tubridity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Sensor Seno189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657600" y="2578608"/>
            <a:ext cx="324612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83000" y="2600960"/>
            <a:ext cx="32003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FFFFFF"/>
                </a:solidFill>
                <a:latin typeface="Segoe UI"/>
              </a:rPr>
              <a:t>Tegangan</a:t>
            </a:r>
            <a:r>
              <a:rPr lang="en-US" sz="1000" dirty="0">
                <a:solidFill>
                  <a:srgbClr val="FFFFFF"/>
                </a:solidFill>
                <a:latin typeface="Segoe UI"/>
              </a:rPr>
              <a:t> ±5.0 VDC, Time </a:t>
            </a:r>
            <a:r>
              <a:rPr lang="en-US" sz="1000" dirty="0" err="1">
                <a:solidFill>
                  <a:srgbClr val="FFFFFF"/>
                </a:solidFill>
                <a:latin typeface="Segoe UI"/>
              </a:rPr>
              <a:t>Respon</a:t>
            </a:r>
            <a:r>
              <a:rPr lang="en-US" sz="1000" dirty="0">
                <a:solidFill>
                  <a:srgbClr val="FFFFFF"/>
                </a:solidFill>
                <a:latin typeface="Segoe UI"/>
              </a:rPr>
              <a:t> &lt; 500 </a:t>
            </a:r>
            <a:r>
              <a:rPr lang="en-US" sz="1000" dirty="0" err="1">
                <a:solidFill>
                  <a:srgbClr val="FFFFFF"/>
                </a:solidFill>
                <a:latin typeface="Segoe UI"/>
              </a:rPr>
              <a:t>ms</a:t>
            </a:r>
            <a:r>
              <a:rPr lang="en-US" sz="1000" dirty="0">
                <a:solidFill>
                  <a:srgbClr val="FFFFFF"/>
                </a:solidFill>
                <a:latin typeface="Segoe UI"/>
              </a:rPr>
              <a:t>, Range </a:t>
            </a:r>
            <a:r>
              <a:rPr lang="en-US" sz="1000" dirty="0" err="1">
                <a:solidFill>
                  <a:srgbClr val="FFFFFF"/>
                </a:solidFill>
                <a:latin typeface="Segoe UI"/>
              </a:rPr>
              <a:t>Pengukuran</a:t>
            </a:r>
            <a:r>
              <a:rPr lang="en-US" sz="1000" dirty="0">
                <a:solidFill>
                  <a:srgbClr val="FFFFFF"/>
                </a:solidFill>
                <a:latin typeface="Segoe UI"/>
              </a:rPr>
              <a:t>±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0 - 3000 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2578608"/>
            <a:ext cx="77724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95159" y="260604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2578608"/>
            <a:ext cx="1874519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18120" y="2606040"/>
            <a:ext cx="17830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268.000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692640" y="2578608"/>
            <a:ext cx="2039112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738360" y="2606040"/>
            <a:ext cx="19476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268.000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7200" y="3035808"/>
            <a:ext cx="41148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3035808"/>
            <a:ext cx="274320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" y="3063240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Selenoid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Valve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657600" y="3035808"/>
            <a:ext cx="324612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03320" y="306324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Tegangan</a:t>
            </a:r>
            <a:r>
              <a:rPr lang="en-US" sz="100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 220V DC12V,  </a:t>
            </a:r>
            <a:r>
              <a:rPr lang="en-US" sz="1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Ukuran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G1/2, </a:t>
            </a:r>
            <a:r>
              <a:rPr lang="en-US" sz="1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Teknanan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0,02 ~ 0,8 </a:t>
            </a:r>
            <a:r>
              <a:rPr lang="en-US" sz="1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Mpa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Suhu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0 ~ 80 °C</a:t>
            </a:r>
            <a:endParaRPr sz="10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949440" y="3035808"/>
            <a:ext cx="77724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95159" y="306324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3035808"/>
            <a:ext cx="1874519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818120" y="3063240"/>
            <a:ext cx="17830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34.000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692640" y="3035808"/>
            <a:ext cx="2039112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38360" y="3063240"/>
            <a:ext cx="19476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3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4.000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57200" y="3493008"/>
            <a:ext cx="41148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" y="3493008"/>
            <a:ext cx="274320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4400" y="3520440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Casing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dan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PCB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0" y="3493008"/>
            <a:ext cx="324612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703320" y="3520440"/>
            <a:ext cx="31546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Warna Hitam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949440" y="3493008"/>
            <a:ext cx="77724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995159" y="352044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72400" y="3493008"/>
            <a:ext cx="1874519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818120" y="3520440"/>
            <a:ext cx="17830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40.000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692640" y="3493008"/>
            <a:ext cx="2039112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738360" y="3520440"/>
            <a:ext cx="19476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40.000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57200" y="3950208"/>
            <a:ext cx="41148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2920" y="397763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8680" y="3950208"/>
            <a:ext cx="274320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14400" y="3977639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Segoe UI"/>
              </a:rPr>
              <a:t>Relay BESTEP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3657600" y="3950208"/>
            <a:ext cx="324612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703320" y="3977639"/>
            <a:ext cx="31546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Segoe UI"/>
              </a:rPr>
              <a:t>Input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Tegangan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3V 1 Channel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949440" y="3950208"/>
            <a:ext cx="77724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995159" y="3977639"/>
            <a:ext cx="685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72400" y="3950208"/>
            <a:ext cx="1874519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818120" y="3977639"/>
            <a:ext cx="17830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33.000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692640" y="3950208"/>
            <a:ext cx="2039112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738360" y="3977639"/>
            <a:ext cx="19476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33.000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57200" y="4453128"/>
            <a:ext cx="11274552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57200" y="4453128"/>
            <a:ext cx="9052560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4360" y="448056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  <a:latin typeface="Segoe UI"/>
              </a:rPr>
              <a:t>TOTAL ESTIMASI BIAYA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18904" y="4453128"/>
            <a:ext cx="2212848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518904" y="4480560"/>
            <a:ext cx="2148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 dirty="0">
                <a:solidFill>
                  <a:srgbClr val="FFFFFF"/>
                </a:solidFill>
                <a:latin typeface="Segoe UI"/>
              </a:rPr>
              <a:t>Rp 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745.000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57200" y="5047488"/>
            <a:ext cx="11274552" cy="15087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57200" y="5047488"/>
            <a:ext cx="64008" cy="15087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40080" y="5138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7FA"/>
                </a:solidFill>
                <a:latin typeface="Segoe UI"/>
              </a:rPr>
              <a:t>•  Harga bersumber dari [Tokopedia / Shopee / supplier lokal] per [bulan, tahun]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7FA"/>
                </a:solidFill>
                <a:latin typeface="Segoe UI"/>
              </a:rPr>
              <a:t>•  Komponen kit Bluino ESP32 IoT Starter Kit sudah mencakup ESP32, sensor, dan aktuator dasar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7FA"/>
                </a:solidFill>
                <a:latin typeface="Segoe UI"/>
              </a:rPr>
              <a:t>•  Komponen tambahan dibeli terpisah sesuai kebutuhan spesifik proyek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61813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7FA"/>
                </a:solidFill>
                <a:latin typeface="Segoe UI"/>
              </a:rPr>
              <a:t>•  Biaya ini tidak termasuk jasa assembling / PCB custom (jika ada)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Antarmuka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Screenshot tampilan sistem Anda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3520440" cy="3200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520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EC5"/>
                </a:solidFill>
                <a:latin typeface="Segoe UI"/>
              </a:rPr>
              <a:t>📷
Foto OLED
di alat fisik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35204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498848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A1F44"/>
                </a:solidFill>
                <a:latin typeface="Segoe UI"/>
              </a:rPr>
              <a:t>Alat Fisik</a:t>
            </a:r>
            <a:endParaRPr sz="1200" b="1" i="0" dirty="0">
              <a:solidFill>
                <a:srgbClr val="0A1F44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70248" y="1188720"/>
            <a:ext cx="3520440" cy="3200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1280160"/>
            <a:ext cx="3520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EC5"/>
                </a:solidFill>
                <a:latin typeface="Segoe UI"/>
              </a:rPr>
              <a:t>📷
Screenshot
browser / ESPUI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4480560"/>
            <a:ext cx="35204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4498848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A1F44"/>
                </a:solidFill>
                <a:latin typeface="Segoe UI"/>
              </a:rPr>
              <a:t>Serial Monitor</a:t>
            </a:r>
            <a:endParaRPr sz="1200" b="1" i="0" dirty="0">
              <a:solidFill>
                <a:srgbClr val="0A1F44"/>
              </a:solidFill>
              <a:latin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83296" y="1188720"/>
            <a:ext cx="3520440" cy="3200400"/>
          </a:xfrm>
          <a:prstGeom prst="rect">
            <a:avLst/>
          </a:prstGeom>
          <a:solidFill>
            <a:srgbClr val="0E2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83296" y="1280160"/>
            <a:ext cx="3520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EC5"/>
                </a:solidFill>
                <a:latin typeface="Segoe UI"/>
              </a:rPr>
              <a:t>📷
Screenshot
aplikasi HP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4480560"/>
            <a:ext cx="35204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4498848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0A1F44"/>
                </a:solidFill>
                <a:latin typeface="Segoe UI"/>
              </a:rPr>
              <a:t>Telegram</a:t>
            </a:r>
            <a:endParaRPr sz="1200" b="1" i="0" dirty="0">
              <a:solidFill>
                <a:srgbClr val="0A1F44"/>
              </a:solidFill>
              <a:latin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11274552" cy="11430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64008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Segoe UI"/>
              </a:rPr>
              <a:t>▸ 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Deskripsikan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fitur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utama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antarmuka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Anda: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Melakukan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monitoring dan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melakukan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block pada air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menggunakna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solenoid valve</a:t>
            </a:r>
            <a:endParaRPr sz="12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5596127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Segoe UI"/>
              </a:rPr>
              <a:t>▸ 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Jelaskan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kemudahan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penggunaan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(UX):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bisa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diakses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Segoe UI"/>
              </a:rPr>
              <a:t>dari</a:t>
            </a:r>
            <a:r>
              <a:rPr sz="1200" b="0" i="0" dirty="0">
                <a:solidFill>
                  <a:srgbClr val="FFFFFF"/>
                </a:solidFill>
                <a:latin typeface="Segoe UI"/>
              </a:rPr>
              <a:t> HP / PC, responsi</a:t>
            </a:r>
            <a:r>
              <a:rPr lang="en-US" sz="1200" b="0" i="0" dirty="0">
                <a:solidFill>
                  <a:srgbClr val="FFFFFF"/>
                </a:solidFill>
                <a:latin typeface="Segoe UI"/>
              </a:rPr>
              <a:t>ve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dan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realtime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karena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Segoe UI"/>
              </a:rPr>
              <a:t>menggunakna</a:t>
            </a:r>
            <a:r>
              <a:rPr lang="en-US" sz="1200" dirty="0">
                <a:solidFill>
                  <a:srgbClr val="FFFFFF"/>
                </a:solidFill>
                <a:latin typeface="Segoe UI"/>
              </a:rPr>
              <a:t> app telegram</a:t>
            </a:r>
            <a:endParaRPr sz="1200" b="0" i="0" dirty="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26" name="Gambar 25">
            <a:extLst>
              <a:ext uri="{FF2B5EF4-FFF2-40B4-BE49-F238E27FC236}">
                <a16:creationId xmlns:a16="http://schemas.microsoft.com/office/drawing/2014/main" id="{28262973-3861-28A4-A5CB-7D5924968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737" y="1220002"/>
            <a:ext cx="3441999" cy="3109261"/>
          </a:xfrm>
          <a:prstGeom prst="rect">
            <a:avLst/>
          </a:prstGeom>
        </p:spPr>
      </p:pic>
      <p:pic>
        <p:nvPicPr>
          <p:cNvPr id="28" name="Gambar 27">
            <a:extLst>
              <a:ext uri="{FF2B5EF4-FFF2-40B4-BE49-F238E27FC236}">
                <a16:creationId xmlns:a16="http://schemas.microsoft.com/office/drawing/2014/main" id="{A1930015-0E57-ABBC-67D1-2961E6C70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31" t="21615" r="831" b="23649"/>
          <a:stretch>
            <a:fillRect/>
          </a:stretch>
        </p:blipFill>
        <p:spPr>
          <a:xfrm>
            <a:off x="530352" y="1252727"/>
            <a:ext cx="3370526" cy="3109859"/>
          </a:xfrm>
          <a:prstGeom prst="rect">
            <a:avLst/>
          </a:prstGeom>
        </p:spPr>
      </p:pic>
      <p:pic>
        <p:nvPicPr>
          <p:cNvPr id="32" name="Gambar 31">
            <a:extLst>
              <a:ext uri="{FF2B5EF4-FFF2-40B4-BE49-F238E27FC236}">
                <a16:creationId xmlns:a16="http://schemas.microsoft.com/office/drawing/2014/main" id="{0DBFC1DC-20FE-EE31-1250-1F87BF06F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77481"/>
            <a:ext cx="3141681" cy="30095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Pengujian &amp; Hasil Eksperimen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Metodologi, data, dan validasi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3520440" cy="192024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5204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Segoe UI"/>
              </a:rPr>
              <a:t>🔬  Uji Akurasi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64208"/>
            <a:ext cx="32918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Menguji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konsistensi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pembacaan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nilai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analog (ADC) sensor turbidity pada 3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sampel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kondisi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(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Jernih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Keruh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Sangat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Keruh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dan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memvalidasi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akurasi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klasifikasi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output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keputusan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berbasis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Logika Fuzzy Mamdani.</a:t>
            </a:r>
            <a:endParaRPr lang="en-US" sz="11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70248" y="1188720"/>
            <a:ext cx="3520440" cy="192024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1188720"/>
            <a:ext cx="35204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12161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Segoe UI"/>
              </a:rPr>
              <a:t>⏱  Uji Latensi Transmisi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66420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Ukur delay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pengiriman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data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dari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ESP32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ke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server.
Target: &lt; 500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ms.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83296" y="1188720"/>
            <a:ext cx="3520440" cy="192024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188720"/>
            <a:ext cx="35204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12161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Segoe UI"/>
              </a:rPr>
              <a:t>📶  Uji Konektivitas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1664208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Uji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Konektivitas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Terdapat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delay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dalam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waktu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5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detik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setiap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pengiriman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pesan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ke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Telegram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1274552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3192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Tabel Hasil Pengujian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67328"/>
            <a:ext cx="365760" cy="402336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785615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  <a:latin typeface="Segoe UI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767328"/>
            <a:ext cx="2331720" cy="402336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785615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  <a:latin typeface="Segoe UI"/>
              </a:rPr>
              <a:t>Parameter Uji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767328"/>
            <a:ext cx="2697480" cy="402336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46120" y="3785615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  <a:latin typeface="Segoe UI"/>
              </a:rPr>
              <a:t>Kondisi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767328"/>
            <a:ext cx="1783080" cy="402336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89320" y="3785615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  <a:latin typeface="Segoe UI"/>
              </a:rPr>
              <a:t>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767328"/>
            <a:ext cx="2148840" cy="402336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8120" y="3785615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  <a:latin typeface="Segoe UI"/>
              </a:rPr>
              <a:t>Hasil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3767328"/>
            <a:ext cx="1737360" cy="402336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12680" y="3785615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  <a:latin typeface="Segoe UI"/>
              </a:rPr>
              <a:t>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61104"/>
            <a:ext cx="36576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27939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261104"/>
            <a:ext cx="233172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279392"/>
            <a:ext cx="224027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0" i="0" dirty="0">
                <a:solidFill>
                  <a:srgbClr val="FFFFFF"/>
                </a:solidFill>
                <a:latin typeface="Segoe UI"/>
              </a:rPr>
              <a:t>NTU</a:t>
            </a:r>
            <a:endParaRPr sz="10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00400" y="4261104"/>
            <a:ext cx="269748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46120" y="4279392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Segoe UI"/>
              </a:rPr>
              <a:t>Air </a:t>
            </a:r>
            <a:r>
              <a:rPr lang="en-US" sz="1050" dirty="0" err="1">
                <a:solidFill>
                  <a:srgbClr val="FFFFFF"/>
                </a:solidFill>
                <a:latin typeface="Segoe UI"/>
              </a:rPr>
              <a:t>Jernih</a:t>
            </a:r>
            <a:endParaRPr sz="10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43600" y="4261104"/>
            <a:ext cx="178308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5989319" y="4292316"/>
                <a:ext cx="16916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NTU: 0 - 50 </a:t>
                </a:r>
                <a:r>
                  <a:rPr lang="en-US" sz="900" dirty="0" err="1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ntu</a:t>
                </a:r>
                <a:r>
                  <a:rPr lang="en-US" sz="90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en-US" sz="900" dirty="0" err="1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dengan</a:t>
                </a:r>
                <a:r>
                  <a:rPr lang="en-US" sz="90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Z </a:t>
                </a:r>
                <a14:m>
                  <m:oMath xmlns:m="http://schemas.openxmlformats.org/officeDocument/2006/math">
                    <m:r>
                      <a:rPr lang="en-US" sz="9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≤</m:t>
                    </m:r>
                  </m:oMath>
                </a14:m>
                <a:r>
                  <a:rPr lang="en-US" sz="900" b="0" i="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1.5</a:t>
                </a:r>
                <a:endParaRPr sz="900" b="0" i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9" y="4292316"/>
                <a:ext cx="1691639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7772400" y="4261104"/>
            <a:ext cx="214884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18120" y="4279392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ADC </a:t>
            </a:r>
            <a:r>
              <a:rPr lang="en-US" sz="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Mentah</a:t>
            </a:r>
            <a:r>
              <a:rPr lang="en-US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1022, Fuzzy Output Z: 1.00 </a:t>
            </a:r>
            <a:r>
              <a:rPr lang="en-US" sz="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denagn</a:t>
            </a:r>
            <a:r>
              <a:rPr lang="en-US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status </a:t>
            </a:r>
            <a:r>
              <a:rPr lang="en-US" sz="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r>
              <a:rPr lang="en-US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AIR JERNIH</a:t>
            </a:r>
            <a:endParaRPr sz="8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966960" y="4261104"/>
            <a:ext cx="173736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12680" y="427939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06D6A0"/>
                </a:solidFill>
                <a:latin typeface="Segoe UI"/>
              </a:rPr>
              <a:t>✔ 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718304"/>
            <a:ext cx="36576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73659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4718304"/>
            <a:ext cx="233172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" y="4736592"/>
            <a:ext cx="224027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0" i="0" dirty="0">
                <a:solidFill>
                  <a:srgbClr val="FFFFFF"/>
                </a:solidFill>
                <a:latin typeface="Segoe UI"/>
              </a:rPr>
              <a:t>NTU</a:t>
            </a:r>
            <a:endParaRPr sz="10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00400" y="4718304"/>
            <a:ext cx="269748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46120" y="4736592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0" i="0" dirty="0">
                <a:solidFill>
                  <a:srgbClr val="FFFFFF"/>
                </a:solidFill>
                <a:latin typeface="Segoe UI"/>
              </a:rPr>
              <a:t>Air </a:t>
            </a:r>
            <a:r>
              <a:rPr lang="en-US" sz="1050" b="0" i="0" dirty="0" err="1">
                <a:solidFill>
                  <a:srgbClr val="FFFFFF"/>
                </a:solidFill>
                <a:latin typeface="Segoe UI"/>
              </a:rPr>
              <a:t>Keruh</a:t>
            </a:r>
            <a:endParaRPr sz="10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943600" y="4718304"/>
            <a:ext cx="178308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5989320" y="4736592"/>
                <a:ext cx="16916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NTU: 25 - 400 NTU, </a:t>
                </a:r>
                <a:r>
                  <a:rPr lang="en-US" sz="900" dirty="0" err="1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dengan</a:t>
                </a:r>
                <a:r>
                  <a:rPr lang="en-US" sz="90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 1.5 </a:t>
                </a:r>
                <a14:m>
                  <m:oMath xmlns:m="http://schemas.openxmlformats.org/officeDocument/2006/math">
                    <m:r>
                      <a:rPr lang="en-US" sz="9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</m:oMath>
                </a14:m>
                <a:r>
                  <a:rPr lang="en-US" sz="800" b="0" i="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Z </a:t>
                </a:r>
                <a14:m>
                  <m:oMath xmlns:m="http://schemas.openxmlformats.org/officeDocument/2006/math">
                    <m:r>
                      <a:rPr lang="en-US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≤</m:t>
                    </m:r>
                  </m:oMath>
                </a14:m>
                <a:r>
                  <a:rPr lang="en-US" sz="800" b="0" i="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2.5</a:t>
                </a:r>
                <a:endParaRPr sz="800" b="0" i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20" y="4736592"/>
                <a:ext cx="1691639" cy="369332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>
            <a:off x="7772400" y="4718304"/>
            <a:ext cx="214884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18120" y="4751832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Segoe UI"/>
              </a:rPr>
              <a:t>ADC </a:t>
            </a:r>
            <a:r>
              <a:rPr lang="en-US" sz="800" dirty="0" err="1">
                <a:solidFill>
                  <a:srgbClr val="FFFFFF"/>
                </a:solidFill>
                <a:latin typeface="Segoe UI"/>
              </a:rPr>
              <a:t>Mentah</a:t>
            </a:r>
            <a:r>
              <a:rPr lang="en-US" sz="800" dirty="0">
                <a:solidFill>
                  <a:srgbClr val="FFFFFF"/>
                </a:solidFill>
                <a:latin typeface="Segoe UI"/>
              </a:rPr>
              <a:t>: 1005, Fuzzy Output Z: 2.00, </a:t>
            </a:r>
            <a:r>
              <a:rPr lang="en-US" sz="800" dirty="0" err="1">
                <a:solidFill>
                  <a:srgbClr val="FFFFFF"/>
                </a:solidFill>
                <a:latin typeface="Segoe UI"/>
              </a:rPr>
              <a:t>dengan</a:t>
            </a:r>
            <a:r>
              <a:rPr lang="en-US" sz="800" dirty="0">
                <a:solidFill>
                  <a:srgbClr val="FFFFFF"/>
                </a:solidFill>
                <a:latin typeface="Segoe UI"/>
              </a:rPr>
              <a:t> status: AIR KERUH</a:t>
            </a:r>
            <a:endParaRPr sz="8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966960" y="4718304"/>
            <a:ext cx="1737360" cy="438912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57200" y="5175504"/>
            <a:ext cx="36576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519379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" y="5175504"/>
            <a:ext cx="233172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80" y="5193792"/>
            <a:ext cx="224027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Segoe UI"/>
              </a:rPr>
              <a:t>NTU</a:t>
            </a:r>
            <a:endParaRPr sz="10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200400" y="5175504"/>
            <a:ext cx="269748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246120" y="5193792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0" i="0" dirty="0">
                <a:solidFill>
                  <a:srgbClr val="FFFFFF"/>
                </a:solidFill>
                <a:latin typeface="Segoe UI"/>
              </a:rPr>
              <a:t>Air Sangat </a:t>
            </a:r>
            <a:r>
              <a:rPr lang="en-US" sz="1050" b="0" i="0" dirty="0" err="1">
                <a:solidFill>
                  <a:srgbClr val="FFFFFF"/>
                </a:solidFill>
                <a:latin typeface="Segoe UI"/>
              </a:rPr>
              <a:t>Keruh</a:t>
            </a:r>
            <a:endParaRPr sz="10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943600" y="5175504"/>
            <a:ext cx="178308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89320" y="5193792"/>
            <a:ext cx="1691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i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NTU: </a:t>
            </a:r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200 - 3000 NTU, </a:t>
            </a:r>
            <a:r>
              <a:rPr lang="en-US" sz="9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dengan</a:t>
            </a:r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Z &gt; 2.5</a:t>
            </a:r>
            <a:endParaRPr sz="9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772400" y="5175504"/>
            <a:ext cx="214884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966960" y="5175504"/>
            <a:ext cx="1737360" cy="438912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61447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C5"/>
                </a:solidFill>
                <a:latin typeface="Segoe UI"/>
              </a:rPr>
              <a:t>* Lengkapi tabel dengan data nyata dari pengujian Anda. Sertakan grafik jika perlu.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97440" y="5192776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06D6A0"/>
                </a:solidFill>
                <a:latin typeface="Segoe UI"/>
              </a:rPr>
              <a:t>✔ PASS</a:t>
            </a:r>
          </a:p>
        </p:txBody>
      </p:sp>
      <p:sp>
        <p:nvSpPr>
          <p:cNvPr id="70" name="TextBox 53">
            <a:extLst>
              <a:ext uri="{FF2B5EF4-FFF2-40B4-BE49-F238E27FC236}">
                <a16:creationId xmlns:a16="http://schemas.microsoft.com/office/drawing/2014/main" id="{6D4B01C7-1A31-4F86-BDDB-2FAA6FEA7316}"/>
              </a:ext>
            </a:extLst>
          </p:cNvPr>
          <p:cNvSpPr txBox="1"/>
          <p:nvPr/>
        </p:nvSpPr>
        <p:spPr>
          <a:xfrm>
            <a:off x="7828279" y="5219982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Segoe UI"/>
              </a:rPr>
              <a:t>ADC </a:t>
            </a:r>
            <a:r>
              <a:rPr lang="en-US" sz="800" dirty="0" err="1">
                <a:solidFill>
                  <a:srgbClr val="FFFFFF"/>
                </a:solidFill>
                <a:latin typeface="Segoe UI"/>
              </a:rPr>
              <a:t>Mentah</a:t>
            </a:r>
            <a:r>
              <a:rPr lang="en-US" sz="800" dirty="0">
                <a:solidFill>
                  <a:srgbClr val="FFFFFF"/>
                </a:solidFill>
                <a:latin typeface="Segoe UI"/>
              </a:rPr>
              <a:t>: 900, Fuzzy Output Z: 3.00, </a:t>
            </a:r>
            <a:r>
              <a:rPr lang="en-US" sz="800" dirty="0" err="1">
                <a:solidFill>
                  <a:srgbClr val="FFFFFF"/>
                </a:solidFill>
                <a:latin typeface="Segoe UI"/>
              </a:rPr>
              <a:t>dengan</a:t>
            </a:r>
            <a:r>
              <a:rPr lang="en-US" sz="800" dirty="0">
                <a:solidFill>
                  <a:srgbClr val="FFFFFF"/>
                </a:solidFill>
                <a:latin typeface="Segoe UI"/>
              </a:rPr>
              <a:t> status: AIR SANGAT KERUH</a:t>
            </a:r>
            <a:endParaRPr sz="8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1" name="TextBox 55">
            <a:extLst>
              <a:ext uri="{FF2B5EF4-FFF2-40B4-BE49-F238E27FC236}">
                <a16:creationId xmlns:a16="http://schemas.microsoft.com/office/drawing/2014/main" id="{661929BC-2341-3425-4969-42581BBE0375}"/>
              </a:ext>
            </a:extLst>
          </p:cNvPr>
          <p:cNvSpPr txBox="1"/>
          <p:nvPr/>
        </p:nvSpPr>
        <p:spPr>
          <a:xfrm>
            <a:off x="9992360" y="473659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06D6A0"/>
                </a:solidFill>
                <a:latin typeface="Segoe UI"/>
              </a:rPr>
              <a:t>✔ 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Analisis &amp; Pembahasan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Interpretasi hasil dan temuan penting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7132320" cy="38404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7132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EC5"/>
                </a:solidFill>
                <a:latin typeface="Segoe UI"/>
              </a:rPr>
              <a:t>[ Tempelkan grafik / chart hasil pengujian di sini ]
Contoh: grafik suhu vs waktu, bar chart akurasi, scatter plot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143000"/>
            <a:ext cx="3959352" cy="38404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1143000"/>
            <a:ext cx="395935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1704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Segoe UI"/>
              </a:rPr>
              <a:t>Poin Analisis Utama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64592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Performa sensor: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akurasi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75%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dibanding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referensi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22402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Latensi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pengiriman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rata-rata: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500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ms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09560" y="283464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Stabilitas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: uptime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7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0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%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selama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pengujian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1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jam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429000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Konsumsi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daya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: rata-rata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yang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digunakan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3.5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V +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Bantuan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dari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USB </a:t>
            </a:r>
            <a:r>
              <a:rPr lang="en-US" sz="1100" dirty="0" err="1">
                <a:solidFill>
                  <a:srgbClr val="FFFFFF"/>
                </a:solidFill>
                <a:latin typeface="Segoe UI"/>
              </a:rPr>
              <a:t>menjadikannya</a:t>
            </a:r>
            <a:r>
              <a:rPr lang="en-US" sz="1100" dirty="0">
                <a:solidFill>
                  <a:srgbClr val="FFFFFF"/>
                </a:solidFill>
                <a:latin typeface="Segoe UI"/>
              </a:rPr>
              <a:t> 5v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09560" y="40233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Temuan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khusus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: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Keterbalikan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00" b="0" i="0" dirty="0" err="1">
                <a:solidFill>
                  <a:srgbClr val="FFFFFF"/>
                </a:solidFill>
                <a:latin typeface="Segoe UI"/>
              </a:rPr>
              <a:t>Pembacaan</a:t>
            </a:r>
            <a:r>
              <a:rPr lang="en-US" sz="1100" b="0" i="0" dirty="0">
                <a:solidFill>
                  <a:srgbClr val="FFFFFF"/>
                </a:solidFill>
                <a:latin typeface="Segoe UI"/>
              </a:rPr>
              <a:t> sensor</a:t>
            </a:r>
            <a:endParaRPr sz="11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11274552" cy="14173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64008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  <a:latin typeface="Segoe UI"/>
              </a:rPr>
              <a:t>Pembahasan: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97280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Hasil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pengujian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tidak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sesuai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dengan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keadaan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yang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aslinya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dikarenakan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Kekurangan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daya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yang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seharusnya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di 5v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namun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karena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menggunakan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ESP8622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menjadikannya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3.5v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sehingga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pembacaan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sensor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tidak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menjadi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maksimal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dan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kekurangan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daya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dalam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membaca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data.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P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embacaan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NTU paling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tinggi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adalah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3000NTU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dimana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status yan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g Sangat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keruh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, dan rata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rata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pengujian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dilakukan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mendapatkan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hasil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Jernih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.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26" name="Gambar 25">
            <a:extLst>
              <a:ext uri="{FF2B5EF4-FFF2-40B4-BE49-F238E27FC236}">
                <a16:creationId xmlns:a16="http://schemas.microsoft.com/office/drawing/2014/main" id="{D008915F-01C7-6A1D-298B-3BFEB90A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02" y="1161288"/>
            <a:ext cx="7114818" cy="38404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Kesimpulan, Kendala &amp; Saran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Ringkasan capaian dan rekomendasi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3520440" cy="50292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52044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Segoe UI"/>
              </a:rPr>
              <a:t>✅  Kesimpulan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19072"/>
            <a:ext cx="329184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Sistem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berhasil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membaca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NTU dan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menentukan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jernih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,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Keruh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, Sangat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keruh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dengan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akurasi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75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%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dengan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Jernih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sebagai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dominasi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dari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pengujian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.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580534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Koneksi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[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protokol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]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stabil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dengan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latensi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rata-rata 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5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00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ms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162862"/>
            <a:ext cx="32918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Antarmuka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telegram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dapat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diakses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1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Semua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tujuan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penelitian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tercapai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/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tujuan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Pengubahan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daya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belum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tercapai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70248" y="1143000"/>
            <a:ext cx="3520440" cy="50292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1143000"/>
            <a:ext cx="3520440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17043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Segoe UI"/>
              </a:rPr>
              <a:t>⚠️  Kendala yang Dihadapi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719072"/>
            <a:ext cx="32918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Keterbatasan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Alat pada Microcontroller.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07408" y="2137435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Drift sensor 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Turbidity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pada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kondisi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kurang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Cahaya sangat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ekstrem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07408" y="2832847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Waktu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pengembangan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terbatas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untuk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Web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ataupu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n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untuk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APP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083296" y="1136650"/>
            <a:ext cx="3520440" cy="502920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83296" y="1143000"/>
            <a:ext cx="3520440" cy="43891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74736" y="117043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Segoe UI"/>
              </a:rPr>
              <a:t>🚀  Saran Pengembangan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1719072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Gunakan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senso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r yang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lebih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bagus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untuk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memudahkan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kalibrasi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 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0456" y="2352548"/>
            <a:ext cx="3291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Tambahkan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Fitur Dashboard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ataupun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oled</a:t>
            </a:r>
            <a:r>
              <a:rPr lang="en-US" sz="1150" b="0" i="0" dirty="0">
                <a:solidFill>
                  <a:srgbClr val="FFFFFF"/>
                </a:solidFill>
                <a:latin typeface="Segoe UI"/>
              </a:rPr>
              <a:t> pada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alat</a:t>
            </a:r>
            <a:r>
              <a:rPr lang="en-US" sz="1150" dirty="0">
                <a:solidFill>
                  <a:srgbClr val="FFFFFF"/>
                </a:solidFill>
                <a:latin typeface="Segoe UI"/>
              </a:rPr>
              <a:t>.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0456" y="2999232"/>
            <a:ext cx="32918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FFFFFF"/>
                </a:solidFill>
                <a:latin typeface="Segoe UI"/>
              </a:rPr>
              <a:t>• </a:t>
            </a:r>
            <a:r>
              <a:rPr lang="en-US" sz="1150" b="0" i="0" dirty="0" err="1">
                <a:solidFill>
                  <a:srgbClr val="FFFFFF"/>
                </a:solidFill>
                <a:latin typeface="Segoe UI"/>
              </a:rPr>
              <a:t>Tambahkan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dengan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AI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untuk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prediksi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anomal</a:t>
            </a:r>
            <a:r>
              <a:rPr lang="en-US" sz="1150" dirty="0" err="1">
                <a:solidFill>
                  <a:srgbClr val="FFFFFF"/>
                </a:solidFill>
                <a:latin typeface="Segoe UI"/>
              </a:rPr>
              <a:t>i</a:t>
            </a:r>
            <a:endParaRPr sz="115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200" y="6309360"/>
            <a:ext cx="11274552" cy="41148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336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Segoe UI"/>
              </a:rPr>
              <a:t>📎  Lampiran: Kode lengkap tersedia di repository GitHub: [link repo Anda]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Referensi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Segoe UI"/>
              </a:rPr>
              <a:t>Sumber pustaka dan dokumentasi teknis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960120"/>
            <a:ext cx="11091672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11274552" cy="5943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161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1615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FFFFFF"/>
                </a:solidFill>
                <a:latin typeface="Segoe UI"/>
              </a:rPr>
              <a:t>Espressif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Systems, "ESP32 Technical Reference Manual," 2024. [Online]. Available: https://docs.espressif.com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11274552" cy="5943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74519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Sugiharto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W. H., Susanto, H., &amp;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Prasetijo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A. B. (2023). Real-time water quality assessment via IoT: Monitoring pH, TDS, temperature, and turbidity. </a:t>
            </a:r>
            <a:r>
              <a:rPr lang="en-US" sz="110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Ingénierie</a:t>
            </a:r>
            <a:r>
              <a:rPr lang="en-US" sz="11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des Systèmes </a:t>
            </a:r>
            <a:r>
              <a:rPr lang="en-US" sz="110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d'Information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1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28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(4), 823–831. 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https://doi.org/10.18280/isi.280403</a:t>
            </a:r>
            <a:endParaRPr sz="11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505456"/>
            <a:ext cx="11274552" cy="5943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32888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Ramadhan, J. G. (2026). </a:t>
            </a:r>
            <a:r>
              <a:rPr lang="en-US" sz="11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IoT-based water quality monitoring system using ESP32 with NSF-WQI method on various water sources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Jurnal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Teknologi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Informatika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dan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Komputer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https://journal.thamrin.ac.id/index.php/jtik/article/view/3185</a:t>
            </a:r>
            <a:endParaRPr sz="11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163824"/>
            <a:ext cx="11274552" cy="5943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19125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191256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Herawati, R. (2025,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Februari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20). Warga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Samarinda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keluhkan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kualitas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PDAM yang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keruh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Bujurnews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https://bujurnews.com/2025/02/20/warga-samarinda-keluhkan-kualitas-air-pdam-yang-keruh-ini-penjelasan-perumdam-tirta-kencana/</a:t>
            </a:r>
            <a:endParaRPr sz="11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822191"/>
            <a:ext cx="11274552" cy="59436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84962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[5]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49624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Priyanto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S., et al. (2022).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Analisis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status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mutu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air Sungai Mahakam Kota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Samarinda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menggunakan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metode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indeks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pencemaran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10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Jurnal</a:t>
            </a:r>
            <a:r>
              <a:rPr lang="en-US" sz="11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Serambi</a:t>
            </a:r>
            <a:r>
              <a:rPr lang="en-US" sz="11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Engineering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https://ojs.serambimekkah.ac.id/jse/article/download/5106/3767</a:t>
            </a:r>
            <a:endParaRPr sz="1100" b="0" i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4650843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B0BEC5"/>
                </a:solidFill>
                <a:latin typeface="Segoe UI"/>
              </a:rPr>
              <a:t>Gunakan</a:t>
            </a:r>
            <a:r>
              <a:rPr sz="1100" b="0" i="1" dirty="0">
                <a:solidFill>
                  <a:srgbClr val="B0BEC5"/>
                </a:solidFill>
                <a:latin typeface="Segoe UI"/>
              </a:rPr>
              <a:t> format IEEE </a:t>
            </a:r>
            <a:r>
              <a:rPr sz="1100" b="0" i="1" dirty="0" err="1">
                <a:solidFill>
                  <a:srgbClr val="B0BEC5"/>
                </a:solidFill>
                <a:latin typeface="Segoe UI"/>
              </a:rPr>
              <a:t>atau</a:t>
            </a:r>
            <a:r>
              <a:rPr sz="1100" b="0" i="1" dirty="0">
                <a:solidFill>
                  <a:srgbClr val="B0BEC5"/>
                </a:solidFill>
                <a:latin typeface="Segoe UI"/>
              </a:rPr>
              <a:t> APA </a:t>
            </a:r>
            <a:r>
              <a:rPr sz="1100" b="0" i="1" dirty="0" err="1">
                <a:solidFill>
                  <a:srgbClr val="B0BEC5"/>
                </a:solidFill>
                <a:latin typeface="Segoe UI"/>
              </a:rPr>
              <a:t>secara</a:t>
            </a:r>
            <a:r>
              <a:rPr sz="1100" b="0" i="1" dirty="0">
                <a:solidFill>
                  <a:srgbClr val="B0BEC5"/>
                </a:solidFill>
                <a:latin typeface="Segoe UI"/>
              </a:rPr>
              <a:t> </a:t>
            </a:r>
            <a:r>
              <a:rPr sz="1100" b="0" i="1" dirty="0" err="1">
                <a:solidFill>
                  <a:srgbClr val="B0BEC5"/>
                </a:solidFill>
                <a:latin typeface="Segoe UI"/>
              </a:rPr>
              <a:t>konsisten</a:t>
            </a:r>
            <a:r>
              <a:rPr sz="1100" b="0" i="1" dirty="0">
                <a:solidFill>
                  <a:srgbClr val="B0BEC5"/>
                </a:solidFill>
                <a:latin typeface="Segoe UI"/>
              </a:rPr>
              <a:t> </a:t>
            </a:r>
            <a:r>
              <a:rPr sz="1100" b="0" i="1" dirty="0" err="1">
                <a:solidFill>
                  <a:srgbClr val="B0BEC5"/>
                </a:solidFill>
                <a:latin typeface="Segoe UI"/>
              </a:rPr>
              <a:t>untuk</a:t>
            </a:r>
            <a:r>
              <a:rPr sz="1100" b="0" i="1" dirty="0">
                <a:solidFill>
                  <a:srgbClr val="B0BEC5"/>
                </a:solidFill>
                <a:latin typeface="Segoe UI"/>
              </a:rPr>
              <a:t> </a:t>
            </a:r>
            <a:r>
              <a:rPr sz="1100" b="0" i="1" dirty="0" err="1">
                <a:solidFill>
                  <a:srgbClr val="B0BEC5"/>
                </a:solidFill>
                <a:latin typeface="Segoe UI"/>
              </a:rPr>
              <a:t>seluruh</a:t>
            </a:r>
            <a:r>
              <a:rPr sz="1100" b="0" i="1" dirty="0">
                <a:solidFill>
                  <a:srgbClr val="B0BEC5"/>
                </a:solidFill>
                <a:latin typeface="Segoe UI"/>
              </a:rPr>
              <a:t> </a:t>
            </a:r>
            <a:r>
              <a:rPr sz="1100" b="0" i="1" dirty="0" err="1">
                <a:solidFill>
                  <a:srgbClr val="B0BEC5"/>
                </a:solidFill>
                <a:latin typeface="Segoe UI"/>
              </a:rPr>
              <a:t>referensi</a:t>
            </a:r>
            <a:r>
              <a:rPr sz="1100" b="0" i="1" dirty="0">
                <a:solidFill>
                  <a:srgbClr val="B0BEC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Terima Kasih!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06040"/>
            <a:ext cx="5788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0E0EF"/>
                </a:solidFill>
                <a:latin typeface="Segoe UI"/>
              </a:rPr>
              <a:t>Pertanyaan &amp; Diskusi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3749039"/>
            <a:ext cx="6336792" cy="1645920"/>
          </a:xfrm>
          <a:prstGeom prst="rect">
            <a:avLst/>
          </a:prstGeom>
          <a:solidFill>
            <a:srgbClr val="0E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3886200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📧  [email mahasiswa]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361688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🔗  GitHub: github.com/[username]/[repo-proyek]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837176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📱  [nomor / sosial media jika ada]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36792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5"/>
                </a:solidFill>
                <a:latin typeface="Segoe UI"/>
              </a:rPr>
              <a:t>Mata Kuliah Internet of Things  |  Teknik Informatika  |  Universitas Mulawarman  |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2929</Words>
  <Application>Microsoft Office PowerPoint</Application>
  <PresentationFormat>Kustom</PresentationFormat>
  <Paragraphs>386</Paragraphs>
  <Slides>19</Slides>
  <Notes>3</Notes>
  <HiddenSlides>0</HiddenSlides>
  <MMClips>0</MMClips>
  <ScaleCrop>false</ScaleCrop>
  <HeadingPairs>
    <vt:vector size="6" baseType="variant">
      <vt:variant>
        <vt:lpstr>Font Dipakai</vt:lpstr>
      </vt:variant>
      <vt:variant>
        <vt:i4>5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Segoe UI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Doctus Main</cp:lastModifiedBy>
  <cp:revision>114</cp:revision>
  <dcterms:created xsi:type="dcterms:W3CDTF">2013-01-27T09:14:16Z</dcterms:created>
  <dcterms:modified xsi:type="dcterms:W3CDTF">2026-06-05T09:15:52Z</dcterms:modified>
  <cp:category/>
</cp:coreProperties>
</file>